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17F59E-ED09-EC49-2FFC-B268C27F7694}" v="10" dt="2026-09-21T04:27:39.07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" name="Shape 2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0:00–0:30. Apresentar a Grove como linguagem de programação cujas palavras-chave são cheats de GTA San Andreas. A extensão .cj remete a Carl Johnson. Implementação em Python puro, sem dependências. Inserir oralmente os nomes do grupo, que não constam do repositório.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" name="Shape 3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0:30–1:30. Abrir um print do jogo com o cheat HESOYAM sendo digitado, se disponível na apresentação ao vivo. A primeira versão usava botões do PS2 como pontuação. A equipe trocou por sintaxe semelhante à de C para que o foco ficasse nos cheats e no compilador, sem digitação de Unicode.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9" name="Shape 3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1:30–2:30. Mostrar também examples/fatorial.cj. As nove palavras têm relação temática com o efeito dos cheats: KANGAROO sugere repetição, GOODBYECRUELWORLD encerra o laço. O restante da linguagem usa blocos, ponto e vírgula, parênteses e operadores convencionais. Fonte: README.md e docs/tokens.md.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6" name="Shape 5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2:30–3:00. Há três estágios principais, implementados em arquivos separados. Tokens e AST também podem ser vistos sem executar o programa. A AST fica em grove/ast.py; a entrada da CLI fica em grove/__main__.py.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0" name="Shape 6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9:30–10:00. Estas são possibilidades para a fase 2; ainda não estão implementadas. Abrir para perguntas. Se a demo falhar por ambiente, executar python -m unittest com Python 3.10+; os 24 testes do repositório passam.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8" name="Shape 6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3:00–4:30. No terminal: python -m grove examples/fatorial.cj --tokens. Destacar linha/coluna e classes de tokens: cheats, símbolos, número, string e identificador. Operadores de dois caracteres são testados antes para não separar != em ! e =. Depois: python -m grove examples/erro_lexico.cj. Erro esperado: linha 2, coluna 13, caractere inesperado $. O efeito sonoro WASTED depende do arquivo .wav em assets/. Use Python 3.10+ para a demo.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3:00–4:30. No terminal: python -m grove examples/fatorial.cj --tokens. Destacar linha/coluna e classes de tokens: cheats, símbolos, número, string e identificador. Operadores de dois caracteres são testados antes para não separar != em ! e =. Depois: python -m grove examples/erro_lexico.cj. Erro esperado: linha 2, coluna 13, caractere inesperado $. O efeito sonoro WASTED depende do arquivo .wav em assets/. Use Python 3.10+ para a demo.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8" name="Shape 7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9:30–10:00. Estas são possibilidades para a fase 2; ainda não estão implementadas. Abrir para perguntas. Se a demo falhar por ambiente, executar python -m unittest com Python 3.10+; os 24 testes do repositório passam.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3" name="Shape 8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4:30–6:30. Mostrar docs/gramatica.md. O parser é LL(1): escolhe a regra pelo próximo token. A ordem de precedência é ou, e, igualdade, comparação, termo, fator, unário e primário. O método binary constrói operadores associativos à esquerda. Blocos obrigatórios evitam ambiguidade de else. No terminal: python -m grove examples/fatorial.cj --ast e depois python -m grove examples/erro_sintatico.cj. O erro informa esperado e encontrado. O som de Big Smoke só toca se o .wav estiver em assets/.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8" name="Shape 8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4:30–6:30. Mostrar docs/gramatica.md. O parser é LL(1): escolhe a regra pelo próximo token. A ordem de precedência é ou, e, igualdade, comparação, termo, fator, unário e primário. O método binary constrói operadores associativos à esquerda. Blocos obrigatórios evitam ambiguidade de else. No terminal: python -m grove examples/fatorial.cj --ast e depois python -m grove examples/erro_sintatico.cj. O erro informa esperado e encontrado. O som de Big Smoke só toca se o .wav estiver em assets/.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9:30–10:00. Estas são possibilidades para a fase 2; ainda não estão implementadas. Abrir para perguntas. Se a demo falhar por ambiente, executar python -m unittest com Python 3.10+; os 24 testes do repositório passam.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7" name="Shape 9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6:30–8:00. Mostrar trechos exec_Block e eval_Binary de grove/interpreter.py. O interpretador percorre a AST diretamente, sem código intermediário. HESOYAM declara no escopo atual; atribuições procuram o nome nos pais. Condições exigem booleanos. break usa uma exceção interna capturada pelo KANGAROO mais interno. Demonstrar: python -m grove examples/erro_execucao.cj. Erro esperado: divisão por zero. O áudio de CJ é opcional.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2" name="Shape 1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6:30–8:00. Mostrar trechos exec_Block e eval_Binary de grove/interpreter.py. O interpretador percorre a AST diretamente, sem código intermediário. HESOYAM declara no escopo atual; atribuições procuram o nome nos pais. Condições exigem booleanos. break usa uma exceção interna capturada pelo KANGAROO mais interno. Demonstrar: python -m grove examples/erro_execucao.cj. Erro esperado: divisão por zero. O áudio de CJ é opcional.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6" name="Shape 10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9:30–10:00. Estas são possibilidades para a fase 2; ainda não estão implementadas. Abrir para perguntas. Se a demo falhar por ambiente, executar python -m unittest com Python 3.10+; os 24 testes do repositório passam.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1" name="Shape 11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8:00–9:30. Mostrar o código fonte antes de rodar cada exemplo. Comandos: python -m grove examples/fizzbuzz.cj; python -m grove examples/procurado.cj. FizzBuzz imprime 1 a 15, trocando múltiplos de 3, 5 e 15. Procurado imprime 1 a 6 e depois fim:. Em sucesso, o efeito MISSION PASSED depende do .wav opcional.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6" name="Shape 11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8:00–9:30. Mostrar o código fonte antes de rodar cada exemplo. Comandos: python -m grove examples/fizzbuzz.cj; python -m grove examples/procurado.cj. FizzBuzz imprime 1 a 15, trocando múltiplos de 3, 5 e 15. Procurado imprime 1 a 6 e depois fim:. Em sucesso, o efeito MISSION PASSED depende do .wav opcional.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4" name="Shape 12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9:30–10:00. Estas são possibilidades para a fase 2; ainda não estão implementadas. Abrir para perguntas. Se a demo falhar por ambiente, executar python -m unittest com Python 3.10+; os 24 testes do repositório passam.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914400" y="1844675"/>
            <a:ext cx="10363200" cy="2041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Texto do Título</a:t>
            </a:r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1828800" y="3886200"/>
            <a:ext cx="8534400" cy="297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A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rove"/>
          <p:cNvSpPr txBox="1"/>
          <p:nvPr/>
        </p:nvSpPr>
        <p:spPr>
          <a:xfrm>
            <a:off x="712469" y="2000250"/>
            <a:ext cx="10195561" cy="1078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7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Grove</a:t>
            </a:r>
          </a:p>
        </p:txBody>
      </p:sp>
      <p:sp>
        <p:nvSpPr>
          <p:cNvPr id="21" name="Uma linguagem .cj inspirada nos cheats…"/>
          <p:cNvSpPr txBox="1"/>
          <p:nvPr/>
        </p:nvSpPr>
        <p:spPr>
          <a:xfrm>
            <a:off x="760094" y="3333750"/>
            <a:ext cx="10290811" cy="817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500">
                <a:solidFill>
                  <a:srgbClr val="C7E7A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Uma linguagem .cj inspirada nos cheats </a:t>
            </a:r>
          </a:p>
          <a:p>
            <a:pPr>
              <a:defRPr sz="2500">
                <a:solidFill>
                  <a:srgbClr val="C7E7A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de GTA San Andreas</a:t>
            </a:r>
          </a:p>
        </p:txBody>
      </p:sp>
      <p:sp>
        <p:nvSpPr>
          <p:cNvPr id="22" name="Projeto de Compiladores  ·  Python 3.10+…"/>
          <p:cNvSpPr txBox="1"/>
          <p:nvPr/>
        </p:nvSpPr>
        <p:spPr>
          <a:xfrm>
            <a:off x="760094" y="5619750"/>
            <a:ext cx="9433561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t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 err="1"/>
              <a:t>Projeto</a:t>
            </a:r>
            <a:r>
              <a:rPr dirty="0"/>
              <a:t> de </a:t>
            </a:r>
            <a:r>
              <a:rPr dirty="0" err="1"/>
              <a:t>Compiladores</a:t>
            </a:r>
            <a:r>
              <a:rPr dirty="0"/>
              <a:t>  ·  </a:t>
            </a:r>
          </a:p>
          <a:p>
            <a:pPr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Gabriel Lacerda, Gabriel Mendonça e Fernando Mendonça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848A132-E0AE-B7A7-0985-19D0D4092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482" y="1251045"/>
            <a:ext cx="4962031" cy="435591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or que cheats?"/>
          <p:cNvSpPr txBox="1"/>
          <p:nvPr/>
        </p:nvSpPr>
        <p:spPr>
          <a:xfrm>
            <a:off x="693419" y="485775"/>
            <a:ext cx="10719436" cy="53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100" b="1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Por que cheats?</a:t>
            </a:r>
          </a:p>
        </p:txBody>
      </p:sp>
      <p:sp>
        <p:nvSpPr>
          <p:cNvPr id="28" name="HESOYAM"/>
          <p:cNvSpPr txBox="1"/>
          <p:nvPr/>
        </p:nvSpPr>
        <p:spPr>
          <a:xfrm>
            <a:off x="660138" y="1085971"/>
            <a:ext cx="5909311" cy="980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6000" b="1">
                <a:solidFill>
                  <a:srgbClr val="165D43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HESOYAM</a:t>
            </a:r>
          </a:p>
        </p:txBody>
      </p:sp>
      <p:sp>
        <p:nvSpPr>
          <p:cNvPr id="29" name="Um vocabulário conhecido e legal…"/>
          <p:cNvSpPr txBox="1"/>
          <p:nvPr/>
        </p:nvSpPr>
        <p:spPr>
          <a:xfrm>
            <a:off x="691851" y="2013597"/>
            <a:ext cx="5242561" cy="7676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300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Um vocabulário conhecido e legal</a:t>
            </a:r>
          </a:p>
          <a:p>
            <a:pPr>
              <a:defRPr sz="2300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torna a linguagem fácil de entender.</a:t>
            </a:r>
          </a:p>
        </p:txBody>
      </p:sp>
      <p:sp>
        <p:nvSpPr>
          <p:cNvPr id="30" name="A implementação percorre todas as etapas: tokens, AST e execução."/>
          <p:cNvSpPr txBox="1"/>
          <p:nvPr/>
        </p:nvSpPr>
        <p:spPr>
          <a:xfrm>
            <a:off x="6320241" y="5120691"/>
            <a:ext cx="4671061" cy="1110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300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 implementação percorre todas as etapas: tokens, AST e execução.</a:t>
            </a:r>
          </a:p>
        </p:txBody>
      </p:sp>
      <p:pic>
        <p:nvPicPr>
          <p:cNvPr id="31" name="Captura de Tela 2026-09-21 às 00.05.06.png" descr="Captura de Tela 2026-09-21 às 00.05.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51" y="3182355"/>
            <a:ext cx="5328561" cy="3404359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filme-colado.png" descr="filme-cola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0588" y="722535"/>
            <a:ext cx="5661825" cy="40787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Nove palavras reservadas"/>
          <p:cNvSpPr txBox="1"/>
          <p:nvPr/>
        </p:nvSpPr>
        <p:spPr>
          <a:xfrm>
            <a:off x="693419" y="485775"/>
            <a:ext cx="10719436" cy="1450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3100" b="1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Nove palavras reservadas </a:t>
            </a:r>
          </a:p>
          <a:p>
            <a:pPr>
              <a:defRPr sz="3100" b="1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id="37" name="Captura de Tela 2026-09-21 às 00.08.06.png" descr="Captura de Tela 2026-09-21 às 00.08.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03" y="1154736"/>
            <a:ext cx="9291071" cy="526553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peline da Grove"/>
          <p:cNvSpPr txBox="1"/>
          <p:nvPr/>
        </p:nvSpPr>
        <p:spPr>
          <a:xfrm>
            <a:off x="693419" y="485775"/>
            <a:ext cx="10719436" cy="53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100" b="1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Pipeline da Grove</a:t>
            </a:r>
          </a:p>
        </p:txBody>
      </p:sp>
      <p:sp>
        <p:nvSpPr>
          <p:cNvPr id="42" name="01"/>
          <p:cNvSpPr txBox="1"/>
          <p:nvPr/>
        </p:nvSpPr>
        <p:spPr>
          <a:xfrm>
            <a:off x="712469" y="1752600"/>
            <a:ext cx="3194687" cy="313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65D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01</a:t>
            </a:r>
          </a:p>
        </p:txBody>
      </p:sp>
      <p:sp>
        <p:nvSpPr>
          <p:cNvPr id="43" name="Léxico"/>
          <p:cNvSpPr txBox="1"/>
          <p:nvPr/>
        </p:nvSpPr>
        <p:spPr>
          <a:xfrm>
            <a:off x="712469" y="2276475"/>
            <a:ext cx="3194687" cy="510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000" b="1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Léxico</a:t>
            </a:r>
          </a:p>
        </p:txBody>
      </p:sp>
      <p:sp>
        <p:nvSpPr>
          <p:cNvPr id="44" name="lexer.py"/>
          <p:cNvSpPr txBox="1"/>
          <p:nvPr/>
        </p:nvSpPr>
        <p:spPr>
          <a:xfrm>
            <a:off x="712469" y="3114675"/>
            <a:ext cx="3194687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900">
                <a:solidFill>
                  <a:srgbClr val="165D43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lexer.py</a:t>
            </a:r>
          </a:p>
        </p:txBody>
      </p:sp>
      <p:sp>
        <p:nvSpPr>
          <p:cNvPr id="45" name="texto .cj  →  tokens"/>
          <p:cNvSpPr txBox="1"/>
          <p:nvPr/>
        </p:nvSpPr>
        <p:spPr>
          <a:xfrm>
            <a:off x="712469" y="3857625"/>
            <a:ext cx="3194687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5667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texto .cj  →  tokens</a:t>
            </a:r>
          </a:p>
        </p:txBody>
      </p:sp>
      <p:sp>
        <p:nvSpPr>
          <p:cNvPr id="46" name="02"/>
          <p:cNvSpPr txBox="1"/>
          <p:nvPr/>
        </p:nvSpPr>
        <p:spPr>
          <a:xfrm>
            <a:off x="4484370" y="1752600"/>
            <a:ext cx="3194686" cy="313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65D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02</a:t>
            </a:r>
          </a:p>
        </p:txBody>
      </p:sp>
      <p:sp>
        <p:nvSpPr>
          <p:cNvPr id="47" name="Sintaxe"/>
          <p:cNvSpPr txBox="1"/>
          <p:nvPr/>
        </p:nvSpPr>
        <p:spPr>
          <a:xfrm>
            <a:off x="4484370" y="2276475"/>
            <a:ext cx="3194686" cy="510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000" b="1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Sintaxe</a:t>
            </a:r>
          </a:p>
        </p:txBody>
      </p:sp>
      <p:sp>
        <p:nvSpPr>
          <p:cNvPr id="48" name="parser.py"/>
          <p:cNvSpPr txBox="1"/>
          <p:nvPr/>
        </p:nvSpPr>
        <p:spPr>
          <a:xfrm>
            <a:off x="4484370" y="3114675"/>
            <a:ext cx="3194686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900">
                <a:solidFill>
                  <a:srgbClr val="165D43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parser.py</a:t>
            </a:r>
          </a:p>
        </p:txBody>
      </p:sp>
      <p:sp>
        <p:nvSpPr>
          <p:cNvPr id="49" name="tokens  →  AST"/>
          <p:cNvSpPr txBox="1"/>
          <p:nvPr/>
        </p:nvSpPr>
        <p:spPr>
          <a:xfrm>
            <a:off x="4484370" y="3857625"/>
            <a:ext cx="3194686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5667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tokens  →  AST</a:t>
            </a:r>
          </a:p>
        </p:txBody>
      </p:sp>
      <p:sp>
        <p:nvSpPr>
          <p:cNvPr id="50" name="03"/>
          <p:cNvSpPr txBox="1"/>
          <p:nvPr/>
        </p:nvSpPr>
        <p:spPr>
          <a:xfrm>
            <a:off x="8265794" y="1752600"/>
            <a:ext cx="3194686" cy="313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65D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03</a:t>
            </a:r>
          </a:p>
        </p:txBody>
      </p:sp>
      <p:sp>
        <p:nvSpPr>
          <p:cNvPr id="51" name="Execução"/>
          <p:cNvSpPr txBox="1"/>
          <p:nvPr/>
        </p:nvSpPr>
        <p:spPr>
          <a:xfrm>
            <a:off x="8265794" y="2276475"/>
            <a:ext cx="3194686" cy="510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000" b="1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Execução</a:t>
            </a:r>
          </a:p>
        </p:txBody>
      </p:sp>
      <p:sp>
        <p:nvSpPr>
          <p:cNvPr id="52" name="interpreter.py"/>
          <p:cNvSpPr txBox="1"/>
          <p:nvPr/>
        </p:nvSpPr>
        <p:spPr>
          <a:xfrm>
            <a:off x="8265794" y="3114675"/>
            <a:ext cx="3194686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900">
                <a:solidFill>
                  <a:srgbClr val="165D43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interpreter.py</a:t>
            </a:r>
          </a:p>
        </p:txBody>
      </p:sp>
      <p:sp>
        <p:nvSpPr>
          <p:cNvPr id="53" name="AST  →  saída"/>
          <p:cNvSpPr txBox="1"/>
          <p:nvPr/>
        </p:nvSpPr>
        <p:spPr>
          <a:xfrm>
            <a:off x="8265794" y="3857625"/>
            <a:ext cx="3194686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5667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AST  →  saída</a:t>
            </a:r>
          </a:p>
        </p:txBody>
      </p:sp>
      <p:sp>
        <p:nvSpPr>
          <p:cNvPr id="54" name="A CLI permite parar em tokens ou AST: --tokens e --ast"/>
          <p:cNvSpPr txBox="1"/>
          <p:nvPr/>
        </p:nvSpPr>
        <p:spPr>
          <a:xfrm>
            <a:off x="712469" y="5429250"/>
            <a:ext cx="10576561" cy="375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 CLI permite parar em tokens ou AST: --tokens e --ast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A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1- Analise…"/>
          <p:cNvSpPr txBox="1"/>
          <p:nvPr/>
        </p:nvSpPr>
        <p:spPr>
          <a:xfrm>
            <a:off x="736282" y="2068891"/>
            <a:ext cx="10719436" cy="2720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9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1- Analise </a:t>
            </a:r>
          </a:p>
          <a:p>
            <a:pPr algn="ctr">
              <a:defRPr sz="9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Léxica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\"/>
          <p:cNvSpPr txBox="1"/>
          <p:nvPr/>
        </p:nvSpPr>
        <p:spPr>
          <a:xfrm>
            <a:off x="11056619" y="6238875"/>
            <a:ext cx="480061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5667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\</a:t>
            </a:r>
          </a:p>
        </p:txBody>
      </p:sp>
      <p:pic>
        <p:nvPicPr>
          <p:cNvPr id="63" name="Captura de Tela 2026-09-21 às 00.44.02.png" descr="Captura de Tela 2026-09-21 às 00.44.02.png"/>
          <p:cNvPicPr>
            <a:picLocks noChangeAspect="1"/>
          </p:cNvPicPr>
          <p:nvPr/>
        </p:nvPicPr>
        <p:blipFill>
          <a:blip r:embed="rId3"/>
          <a:srcRect r="18765" b="45773"/>
          <a:stretch>
            <a:fillRect/>
          </a:stretch>
        </p:blipFill>
        <p:spPr>
          <a:xfrm>
            <a:off x="336712" y="1055290"/>
            <a:ext cx="5982111" cy="4747323"/>
          </a:xfrm>
          <a:prstGeom prst="rect">
            <a:avLst/>
          </a:prstGeom>
          <a:ln w="12700">
            <a:miter lim="400000"/>
          </a:ln>
        </p:spPr>
      </p:pic>
      <p:sp>
        <p:nvSpPr>
          <p:cNvPr id="64" name="Tokens:"/>
          <p:cNvSpPr txBox="1"/>
          <p:nvPr/>
        </p:nvSpPr>
        <p:spPr>
          <a:xfrm>
            <a:off x="365260" y="427872"/>
            <a:ext cx="5925001" cy="53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100" b="1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Tokens:</a:t>
            </a:r>
          </a:p>
        </p:txBody>
      </p:sp>
      <p:pic>
        <p:nvPicPr>
          <p:cNvPr id="65" name="Captura de Tela 2026-09-21 às 00.44.02.png" descr="Captura de Tela 2026-09-21 às 00.44.02.png"/>
          <p:cNvPicPr>
            <a:picLocks noChangeAspect="1"/>
          </p:cNvPicPr>
          <p:nvPr/>
        </p:nvPicPr>
        <p:blipFill>
          <a:blip r:embed="rId3"/>
          <a:srcRect t="53985" r="36454"/>
          <a:stretch>
            <a:fillRect/>
          </a:stretch>
        </p:blipFill>
        <p:spPr>
          <a:xfrm>
            <a:off x="6432147" y="1055290"/>
            <a:ext cx="5514554" cy="4747269"/>
          </a:xfrm>
          <a:prstGeom prst="rect">
            <a:avLst/>
          </a:prstGeom>
          <a:ln w="12700">
            <a:miter lim="400000"/>
          </a:ln>
        </p:spPr>
      </p:pic>
      <p:sp>
        <p:nvSpPr>
          <p:cNvPr id="66" name="Dividido e aumentado para melhor visualização no projetor…"/>
          <p:cNvSpPr txBox="1"/>
          <p:nvPr/>
        </p:nvSpPr>
        <p:spPr>
          <a:xfrm>
            <a:off x="376367" y="6226382"/>
            <a:ext cx="11675621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 b="1">
                <a:solidFill>
                  <a:srgbClr val="92939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Dividido e aumentado para melhor visualização no projetor…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\"/>
          <p:cNvSpPr txBox="1"/>
          <p:nvPr/>
        </p:nvSpPr>
        <p:spPr>
          <a:xfrm>
            <a:off x="11056619" y="6238875"/>
            <a:ext cx="480061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5667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\</a:t>
            </a:r>
          </a:p>
        </p:txBody>
      </p:sp>
      <p:pic>
        <p:nvPicPr>
          <p:cNvPr id="71" name="Captura de Tela 2026-09-21 às 00.46.16.png" descr="Captura de Tela 2026-09-21 às 00.46.16.png"/>
          <p:cNvPicPr>
            <a:picLocks noChangeAspect="1"/>
          </p:cNvPicPr>
          <p:nvPr/>
        </p:nvPicPr>
        <p:blipFill>
          <a:blip r:embed="rId3"/>
          <a:srcRect r="40802"/>
          <a:stretch>
            <a:fillRect/>
          </a:stretch>
        </p:blipFill>
        <p:spPr>
          <a:xfrm>
            <a:off x="484544" y="1273231"/>
            <a:ext cx="10764441" cy="4255413"/>
          </a:xfrm>
          <a:prstGeom prst="rect">
            <a:avLst/>
          </a:prstGeom>
          <a:ln w="12700">
            <a:miter lim="400000"/>
          </a:ln>
        </p:spPr>
      </p:pic>
      <p:sp>
        <p:nvSpPr>
          <p:cNvPr id="72" name="Erro Léxico:"/>
          <p:cNvSpPr txBox="1"/>
          <p:nvPr/>
        </p:nvSpPr>
        <p:spPr>
          <a:xfrm>
            <a:off x="507769" y="597549"/>
            <a:ext cx="5925000" cy="53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100" b="1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Erro Léxico: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A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2- Analise Sintática"/>
          <p:cNvSpPr txBox="1"/>
          <p:nvPr/>
        </p:nvSpPr>
        <p:spPr>
          <a:xfrm>
            <a:off x="736282" y="2068891"/>
            <a:ext cx="10719436" cy="2720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2- Analise Sintática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Captura de Tela 2026-09-21 às 00.51.40.png" descr="Captura de Tela 2026-09-21 às 00.51.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42" y="972815"/>
            <a:ext cx="11389516" cy="4912370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Gramática EBNF:"/>
          <p:cNvSpPr txBox="1"/>
          <p:nvPr/>
        </p:nvSpPr>
        <p:spPr>
          <a:xfrm>
            <a:off x="420984" y="332053"/>
            <a:ext cx="5925000" cy="53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100" b="1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Gramática EBNF: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Captura de Tela 2026-09-21 às 00.52.32.png" descr="Captura de Tela 2026-09-21 às 00.52.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54" y="967167"/>
            <a:ext cx="11352092" cy="4923666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AST e erro sintático:"/>
          <p:cNvSpPr txBox="1"/>
          <p:nvPr/>
        </p:nvSpPr>
        <p:spPr>
          <a:xfrm>
            <a:off x="396259" y="339414"/>
            <a:ext cx="5925001" cy="53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100" b="1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AST e erro sintático: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A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3- Interpretador"/>
          <p:cNvSpPr txBox="1"/>
          <p:nvPr/>
        </p:nvSpPr>
        <p:spPr>
          <a:xfrm>
            <a:off x="736282" y="2735642"/>
            <a:ext cx="10719436" cy="1386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3- Interpretador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Captura de Tela 2026-09-21 às 00.53.18.png" descr="Captura de Tela 2026-09-21 às 00.53.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98" y="1031332"/>
            <a:ext cx="11567204" cy="4795336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Código do interpretador:"/>
          <p:cNvSpPr txBox="1"/>
          <p:nvPr/>
        </p:nvSpPr>
        <p:spPr>
          <a:xfrm>
            <a:off x="358612" y="367035"/>
            <a:ext cx="5925001" cy="53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100" b="1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Código do interpretador: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Captura de Tela 2026-09-21 às 00.53.55.png" descr="Captura de Tela 2026-09-21 às 00.53.55.png"/>
          <p:cNvPicPr>
            <a:picLocks noChangeAspect="1"/>
          </p:cNvPicPr>
          <p:nvPr/>
        </p:nvPicPr>
        <p:blipFill>
          <a:blip r:embed="rId3"/>
          <a:srcRect l="4254" r="18565"/>
          <a:stretch>
            <a:fillRect/>
          </a:stretch>
        </p:blipFill>
        <p:spPr>
          <a:xfrm>
            <a:off x="233597" y="1272887"/>
            <a:ext cx="11724927" cy="1478571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Erro de execução:"/>
          <p:cNvSpPr txBox="1"/>
          <p:nvPr/>
        </p:nvSpPr>
        <p:spPr>
          <a:xfrm>
            <a:off x="264652" y="617248"/>
            <a:ext cx="5925001" cy="53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100" b="1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Erro de execução: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A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Demonstração…"/>
          <p:cNvSpPr txBox="1"/>
          <p:nvPr/>
        </p:nvSpPr>
        <p:spPr>
          <a:xfrm>
            <a:off x="736282" y="2068891"/>
            <a:ext cx="10719436" cy="2720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9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Demonstração </a:t>
            </a:r>
          </a:p>
          <a:p>
            <a:pPr algn="ctr">
              <a:defRPr sz="9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Completa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Captura de Tela 2026-09-21 às 00.54.46.png" descr="Captura de Tela 2026-09-21 às 00.54.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339" y="885657"/>
            <a:ext cx="9576558" cy="5712817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FizzBuzz"/>
          <p:cNvSpPr txBox="1"/>
          <p:nvPr/>
        </p:nvSpPr>
        <p:spPr>
          <a:xfrm>
            <a:off x="375590" y="251155"/>
            <a:ext cx="5925000" cy="53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100" b="1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FizzBuzz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Captura de Tela 2026-09-21 às 00.55.23.png" descr="Captura de Tela 2026-09-21 às 00.55.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53" y="1081310"/>
            <a:ext cx="11466494" cy="4695380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Procurado"/>
          <p:cNvSpPr txBox="1"/>
          <p:nvPr/>
        </p:nvSpPr>
        <p:spPr>
          <a:xfrm>
            <a:off x="375590" y="428655"/>
            <a:ext cx="5925000" cy="53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100" b="1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Procurado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A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róximos passos"/>
          <p:cNvSpPr txBox="1"/>
          <p:nvPr/>
        </p:nvSpPr>
        <p:spPr>
          <a:xfrm>
            <a:off x="693419" y="485775"/>
            <a:ext cx="10719436" cy="53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Próximos passos</a:t>
            </a:r>
          </a:p>
        </p:txBody>
      </p:sp>
      <p:sp>
        <p:nvSpPr>
          <p:cNvPr id="119" name="Análise semântica separada do interpretador"/>
          <p:cNvSpPr txBox="1"/>
          <p:nvPr/>
        </p:nvSpPr>
        <p:spPr>
          <a:xfrm>
            <a:off x="731519" y="1552575"/>
            <a:ext cx="10290811" cy="4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FFFDF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Análise semântica separada do interpretador</a:t>
            </a:r>
          </a:p>
        </p:txBody>
      </p:sp>
      <p:sp>
        <p:nvSpPr>
          <p:cNvPr id="120" name="Geração de código Python a partir da AST"/>
          <p:cNvSpPr txBox="1"/>
          <p:nvPr/>
        </p:nvSpPr>
        <p:spPr>
          <a:xfrm>
            <a:off x="731519" y="2447925"/>
            <a:ext cx="10290811" cy="4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Geração de código Python a partir da AST</a:t>
            </a:r>
          </a:p>
        </p:txBody>
      </p:sp>
      <p:sp>
        <p:nvSpPr>
          <p:cNvPr id="121" name="Execução em MicroPython no ESP32"/>
          <p:cNvSpPr txBox="1"/>
          <p:nvPr/>
        </p:nvSpPr>
        <p:spPr>
          <a:xfrm>
            <a:off x="731519" y="3343275"/>
            <a:ext cx="10290811" cy="4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Execução em MicroPython no ESP32</a:t>
            </a:r>
          </a:p>
        </p:txBody>
      </p:sp>
      <p:sp>
        <p:nvSpPr>
          <p:cNvPr id="122" name="Playground web"/>
          <p:cNvSpPr txBox="1"/>
          <p:nvPr/>
        </p:nvSpPr>
        <p:spPr>
          <a:xfrm>
            <a:off x="731519" y="4238625"/>
            <a:ext cx="10290811" cy="4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Playground web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17</Slides>
  <Notes>17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18" baseType="lpstr"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6</cp:revision>
  <dcterms:modified xsi:type="dcterms:W3CDTF">2026-09-21T04:30:10Z</dcterms:modified>
</cp:coreProperties>
</file>