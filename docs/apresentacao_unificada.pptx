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13c6292cd64128" /><Relationship Type="http://schemas.openxmlformats.org/officeDocument/2006/relationships/extended-properties" Target="/docProps/app.xml" Id="Rf3b5eea7e6474594" /><Relationship Type="http://schemas.openxmlformats.org/officeDocument/2006/relationships/officeDocument" Target="/ppt/presentation.xml" Id="R876e873f55d245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55bd7ee374d30"/>
  </p:sldMasterIdLst>
  <p:notesMasterIdLst>
    <p:notesMasterId xmlns:r="http://schemas.openxmlformats.org/officeDocument/2006/relationships" r:id="Raafce4618daa4c01"/>
  </p:notesMasterIdLst>
  <p:sldIdLst>
    <p:sldId xmlns:r="http://schemas.openxmlformats.org/officeDocument/2006/relationships" id="256" r:id="R69d5dd95b6f2472f"/>
    <p:sldId xmlns:r="http://schemas.openxmlformats.org/officeDocument/2006/relationships" id="257" r:id="Rb96ba64fa37f4b08"/>
    <p:sldId xmlns:r="http://schemas.openxmlformats.org/officeDocument/2006/relationships" id="258" r:id="Rcdd243a916b94009"/>
    <p:sldId xmlns:r="http://schemas.openxmlformats.org/officeDocument/2006/relationships" id="259" r:id="Rab4be9df9da04c8c"/>
    <p:sldId xmlns:r="http://schemas.openxmlformats.org/officeDocument/2006/relationships" id="260" r:id="R67ddf85cb97a4325"/>
    <p:sldId xmlns:r="http://schemas.openxmlformats.org/officeDocument/2006/relationships" id="261" r:id="Rbada2f8c43bd460e"/>
    <p:sldId xmlns:r="http://schemas.openxmlformats.org/officeDocument/2006/relationships" id="262" r:id="R1090b4694b464043"/>
    <p:sldId xmlns:r="http://schemas.openxmlformats.org/officeDocument/2006/relationships" id="263" r:id="R3d36531014df44b8"/>
    <p:sldId xmlns:r="http://schemas.openxmlformats.org/officeDocument/2006/relationships" id="264" r:id="R10aed8d9c5f8495d"/>
    <p:sldId xmlns:r="http://schemas.openxmlformats.org/officeDocument/2006/relationships" id="265" r:id="R8580b7fe218c48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be1c6abe1b46be" /><Relationship Type="http://schemas.openxmlformats.org/officeDocument/2006/relationships/slideMaster" Target="/ppt/slideMasters/slideMaster1.xml" Id="R14455bd7ee374d30" /><Relationship Type="http://schemas.openxmlformats.org/officeDocument/2006/relationships/notesMaster" Target="/ppt/notesMasters/notesMaster1.xml" Id="Raafce4618daa4c01" /><Relationship Type="http://schemas.openxmlformats.org/officeDocument/2006/relationships/presProps" Target="/ppt/presProps.xml" Id="R50a8b12df4404b83" /><Relationship Type="http://schemas.openxmlformats.org/officeDocument/2006/relationships/tableStyles" Target="/ppt/tableStyles.xml" Id="R7343109bc3db472d" /><Relationship Type="http://schemas.openxmlformats.org/officeDocument/2006/relationships/slide" Target="/ppt/slides/slide1.xml" Id="R69d5dd95b6f2472f" /><Relationship Type="http://schemas.openxmlformats.org/officeDocument/2006/relationships/slide" Target="/ppt/slides/slide2.xml" Id="Rb96ba64fa37f4b08" /><Relationship Type="http://schemas.openxmlformats.org/officeDocument/2006/relationships/slide" Target="/ppt/slides/slide3.xml" Id="Rcdd243a916b94009" /><Relationship Type="http://schemas.openxmlformats.org/officeDocument/2006/relationships/slide" Target="/ppt/slides/slide4.xml" Id="Rab4be9df9da04c8c" /><Relationship Type="http://schemas.openxmlformats.org/officeDocument/2006/relationships/slide" Target="/ppt/slides/slide5.xml" Id="R67ddf85cb97a4325" /><Relationship Type="http://schemas.openxmlformats.org/officeDocument/2006/relationships/slide" Target="/ppt/slides/slide6.xml" Id="Rbada2f8c43bd460e" /><Relationship Type="http://schemas.openxmlformats.org/officeDocument/2006/relationships/slide" Target="/ppt/slides/slide7.xml" Id="R1090b4694b464043" /><Relationship Type="http://schemas.openxmlformats.org/officeDocument/2006/relationships/slide" Target="/ppt/slides/slide8.xml" Id="R3d36531014df44b8" /><Relationship Type="http://schemas.openxmlformats.org/officeDocument/2006/relationships/slide" Target="/ppt/slides/slide9.xml" Id="R10aed8d9c5f8495d" /><Relationship Type="http://schemas.openxmlformats.org/officeDocument/2006/relationships/slide" Target="/ppt/slides/slide10.xml" Id="R8580b7fe218c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a134544f0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0d9639ff2e489c" /><Relationship Type="http://schemas.openxmlformats.org/officeDocument/2006/relationships/notesMaster" Target="/ppt/notesMasters/notesMaster1.xml" Id="Rf07bf889664a43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5f0ce758e747e6" /><Relationship Type="http://schemas.openxmlformats.org/officeDocument/2006/relationships/notesMaster" Target="/ppt/notesMasters/notesMaster1.xml" Id="Re109426591c5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bbd5693dfb4911" /><Relationship Type="http://schemas.openxmlformats.org/officeDocument/2006/relationships/notesMaster" Target="/ppt/notesMasters/notesMaster1.xml" Id="R0fb65f29d42240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9f7cd62b1e4b9f" /><Relationship Type="http://schemas.openxmlformats.org/officeDocument/2006/relationships/notesMaster" Target="/ppt/notesMasters/notesMaster1.xml" Id="R422abcfc60094a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7bf0b3990f4a0b" /><Relationship Type="http://schemas.openxmlformats.org/officeDocument/2006/relationships/notesMaster" Target="/ppt/notesMasters/notesMaster1.xml" Id="Rc557b108a37943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8f2a629cdb4cf1" /><Relationship Type="http://schemas.openxmlformats.org/officeDocument/2006/relationships/notesMaster" Target="/ppt/notesMasters/notesMaster1.xml" Id="R3e26725855d74e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009d0d8a4848fd" /><Relationship Type="http://schemas.openxmlformats.org/officeDocument/2006/relationships/notesMaster" Target="/ppt/notesMasters/notesMaster1.xml" Id="Rd36e7b22716f49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bcb83461dc43dd" /><Relationship Type="http://schemas.openxmlformats.org/officeDocument/2006/relationships/notesMaster" Target="/ppt/notesMasters/notesMaster1.xml" Id="R6090bd6213f347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dc86f43b6d45d3" /><Relationship Type="http://schemas.openxmlformats.org/officeDocument/2006/relationships/notesMaster" Target="/ppt/notesMasters/notesMaster1.xml" Id="Rc34d16f49769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66b620a15144dd" /><Relationship Type="http://schemas.openxmlformats.org/officeDocument/2006/relationships/notesMaster" Target="/ppt/notesMasters/notesMaster1.xml" Id="Ra07ddeed32b64a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Grove como linguagem .cj e explicar que o pitch reúne produto, identidade visual e pipeline técnico funcionando.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usuário de comprador. Tratar a relação entre tema, interesse e aprendizagem como hipótese, não como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a identidade da Grove é independente da identidade visual de GTA. A associação cultural aparece apenas nos nomes da linguagem.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os três estágios principais e mostrar que os modos da CLI permitem parar o pipeline em tokens ou 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 tabela de tokens e destacar tipo, lexema, linha e coluna. Em seguida, apresentar o erro com localização precisa.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a gramática EBNF, o parser LL(1), a ordem de precedência e a AST gerada. Mostrar que o erro informa esperado e encontrado.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o interpretador percorre a AST diretamente e mantém escopos. Encerrar com o tratamento de erros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 fonte antes de executar o FizzBuzz. Reforçar que os testes cobrem lexer, parser, interpretador e sons opcionais.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código aberto como canal de aquisição. Separar as estimativas do piloto das metas futuras de validação.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com a distinção entre entrega técnica pronta e hipóteses de produto. A próxima decisão depende da validação com usuários e compradores.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9660c521b46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2616d687c846c5" /><Relationship Type="http://schemas.openxmlformats.org/officeDocument/2006/relationships/slideLayout" Target="/ppt/slideLayouts/slideLayout1.xml" Id="Rdebdbcc658be48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dbcc658be48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7af71d7e34043" /><Relationship Type="http://schemas.openxmlformats.org/officeDocument/2006/relationships/image" Target="/ppt/media/image.png" Id="R185672357ad143ba" /><Relationship Type="http://schemas.openxmlformats.org/officeDocument/2006/relationships/notesSlide" Target="/ppt/notesSlides/notesSlide1.xml" Id="R5817abb643a8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76df70106443b" /><Relationship Type="http://schemas.openxmlformats.org/officeDocument/2006/relationships/image" Target="/ppt/media/image2.png" Id="R07199ef48d86444d" /><Relationship Type="http://schemas.openxmlformats.org/officeDocument/2006/relationships/notesSlide" Target="/ppt/notesSlides/notesSlide2.xml" Id="Rf7083f9193d644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e0293bef249a1" /><Relationship Type="http://schemas.openxmlformats.org/officeDocument/2006/relationships/notesSlide" Target="/ppt/notesSlides/notesSlide3.xml" Id="R0856cd8fff9a4e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362e0b7874b78" /><Relationship Type="http://schemas.openxmlformats.org/officeDocument/2006/relationships/notesSlide" Target="/ppt/notesSlides/notesSlide4.xml" Id="Re98f842b33514d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41296137e423b" /><Relationship Type="http://schemas.openxmlformats.org/officeDocument/2006/relationships/image" Target="/ppt/media/image3.png" Id="R8b54e20f524e4edb" /><Relationship Type="http://schemas.openxmlformats.org/officeDocument/2006/relationships/image" Target="/ppt/media/image4.png" Id="R6b3f92514ced4599" /><Relationship Type="http://schemas.openxmlformats.org/officeDocument/2006/relationships/notesSlide" Target="/ppt/notesSlides/notesSlide5.xml" Id="R9896be16bc574d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2e2db3a2f469e" /><Relationship Type="http://schemas.openxmlformats.org/officeDocument/2006/relationships/image" Target="/ppt/media/image5.png" Id="R882f4d0c931f42b6" /><Relationship Type="http://schemas.openxmlformats.org/officeDocument/2006/relationships/image" Target="/ppt/media/image6.png" Id="R750c0ca0e600402f" /><Relationship Type="http://schemas.openxmlformats.org/officeDocument/2006/relationships/notesSlide" Target="/ppt/notesSlides/notesSlide6.xml" Id="Ree6d8832c71845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1d71a61ae42e0" /><Relationship Type="http://schemas.openxmlformats.org/officeDocument/2006/relationships/image" Target="/ppt/media/image7.png" Id="R66e7afe8aef04e61" /><Relationship Type="http://schemas.openxmlformats.org/officeDocument/2006/relationships/image" Target="/ppt/media/image8.png" Id="R3e8dfc48db61463a" /><Relationship Type="http://schemas.openxmlformats.org/officeDocument/2006/relationships/notesSlide" Target="/ppt/notesSlides/notesSlide7.xml" Id="Rfb7f4fda800b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ea940f0554b89" /><Relationship Type="http://schemas.openxmlformats.org/officeDocument/2006/relationships/image" Target="/ppt/media/image9.png" Id="R8e2897c911a543db" /><Relationship Type="http://schemas.openxmlformats.org/officeDocument/2006/relationships/notesSlide" Target="/ppt/notesSlides/notesSlide8.xml" Id="R1923eff366e149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234a7953348f8" /><Relationship Type="http://schemas.openxmlformats.org/officeDocument/2006/relationships/notesSlide" Target="/ppt/notesSlides/notesSlide9.xml" Id="Rd5992cac338a4a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1ebb0e2e84dfd" /><Relationship Type="http://schemas.openxmlformats.org/officeDocument/2006/relationships/notesSlide" Target="/ppt/notesSlides/notesSlide10.xml" Id="R9e005ac06c8e4b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672357ad143ba"/>
          <a:stretch xmlns:a="http://schemas.openxmlformats.org/drawingml/2006/main"/>
        </p:blipFill>
        <p:spPr>
          <a:xfrm xmlns:a="http://schemas.openxmlformats.org/drawingml/2006/main">
            <a:off x="1047750" y="685800"/>
            <a:ext cx="10096500" cy="3028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ECEFB-2991-4AD3-A373-2588ECE8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9E1D0-153E-4D6F-B746-E903BE5A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Pitch do produto e prova técnica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FE059-FD98-4453-865E-C00DC3FF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Projeto de Compiladores em Python 3.10+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60F7E-BB35-46BD-8029-89239C7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Gabriel Lacerda, Gabriel Mendonça e Fernando Mendonça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C2BA0-A459-4603-96C9-F59453C1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C7B5"/>
                </a:solidFill>
                <a:latin typeface="Helvetica Neue"/>
                <a:ea typeface="Helvetica Neue"/>
                <a:cs typeface="Helvetica Neue"/>
              </a:rPr>
              <a:t>AP1     2026</a:t>
            </a:r>
          </a:p>
        </p:txBody>
      </p:sp>
    </p:spTree>
    <p:extLst>
      <p:ext uri="{BB962C8B-B14F-4D97-AF65-F5344CB8AC3E}">
        <p14:creationId xmlns:p14="http://schemas.microsoft.com/office/powerpoint/2010/main" val="197013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4B0D4-EBB5-4947-A1A9-3FDE49EE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Problema e público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31FB7-ACFD-4B06-89B1-C69BDD0E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522D8-2A88-4A01-ADF3-D5175CAD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80815-E29A-446C-8298-473429B5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Tokens, AST e escopo costumam aparecer como abstrações antes de o aluno vê-los funcionando.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3CA52-A28F-4846-93D3-4BD158FB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A Grove usa um contexto reconhecível e feedback imediato para aproximar a teoria de um compilador executável.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9ef48d86444d"/>
          <a:srcRect xmlns:a="http://schemas.openxmlformats.org/drawingml/2006/main" l="0" t="28" r="0" b="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381125"/>
            <a:ext cx="4762500" cy="3429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35960-DAA5-4476-9671-543097F5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69E87-9EA1-4CDA-86E6-730D833B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USUÁRIO 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6474D-856D-4927-B779-A44BB99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Estudantes de Computação em disciplinas de Compiladores, Linguagens Formais e programação textual.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07325-78A7-4D71-B374-73BF1639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91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COMPRADORES POTENCIAIS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4EF78-A354-4FC7-AD5C-8A488B53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Faculdades, professores, eventos e projetos de extensão.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3B23B-1EE6-467B-BFD6-40EBD276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rPr>
              <a:t>Hipótese a validar: o tema aumenta o interesse inicial sem reduzir o rigor técnico.</a:t>
            </a:r>
          </a:p>
        </p:txBody>
      </p:sp>
    </p:spTree>
    <p:extLst>
      <p:ext uri="{BB962C8B-B14F-4D97-AF65-F5344CB8AC3E}">
        <p14:creationId xmlns:p14="http://schemas.microsoft.com/office/powerpoint/2010/main" val="1229343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7C96B-6553-4511-BFA0-20E33640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Linguagem e proposta de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F0AF4-BAEF-432E-A14A-B590ECE9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F5317-4335-4611-94DE-BBE86D74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41F2B-23D6-4297-AD89-3074EF1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Uma linguagem .cj pequena, temática e executável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E23F4-01DE-4F7E-9132-65893F68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CE8DE"/>
                </a:solidFill>
                <a:latin typeface="Helvetica Neue"/>
                <a:ea typeface="Helvetica Neue"/>
                <a:cs typeface="Helvetica Neue"/>
              </a:rPr>
              <a:t>O vocabulário vem dos cheats. A sintaxe mantém blocos, operadores e pontuação familiares.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B47F1-1AA3-4410-8DE2-2E82135B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HESOYAM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2E33F-90E0-4526-9775-D5F7466E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declara variável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4F2B0-17D1-4424-8049-B969DF2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KANGAROO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46CF6-F3C4-4627-A986-CE979A40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767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cria um laço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82D54-5338-48BD-9087-953195DD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HELLOLADIES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52CCD-6E53-4D11-80CE-2DE9114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14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imprime uma expressão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8DDED-9869-4923-87D5-3C6C6E79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8E9A8-7D0C-45C5-9DC1-4879F052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763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NOVE PALAVRAS RESERVADAS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F3038-D4B9-4497-A5B7-A37436D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TURNUPTHEHEAT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635CA-00E7-4108-877F-F23AAF20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574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AAA27-A299-4A9E-937F-1D640F20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003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BRINGITON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9EDE3-3972-4253-B38C-26B58AD2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elif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FE2D7-3629-496D-8661-747006D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527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TURNDOWNTHEHEAT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3ED08-8559-4AEE-99D7-010C0505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623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else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78646-DE0B-444A-B0B7-623AAFAA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052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GOODBYECRUELWORLD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55A26-1D18-4A61-AAAA-BA874DD3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9A10B-4B43-420E-82C7-E55E039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FULLCLIP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67761-929F-4BC8-AF75-6CB2C47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672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true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BEE2B-5E1C-4374-8758-0B83FD5C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GHOSTTOWN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BA9BD-9D4D-4463-AE25-45CEF78E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196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false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E8334-555E-4614-B37D-F1F21635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D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9CDBF"/>
                </a:solidFill>
                <a:latin typeface="Helvetica Neue"/>
                <a:ea typeface="Helvetica Neue"/>
                <a:cs typeface="Helvetica Neue"/>
              </a:rPr>
              <a:t>A marca é própria. A referência cultural permanece no vocabulário da linguagem.</a:t>
            </a:r>
          </a:p>
        </p:txBody>
      </p:sp>
    </p:spTree>
    <p:extLst>
      <p:ext uri="{BB962C8B-B14F-4D97-AF65-F5344CB8AC3E}">
        <p14:creationId xmlns:p14="http://schemas.microsoft.com/office/powerpoint/2010/main" val="1424640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51640-7E65-43F0-8369-11C1AFA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Pipeline do compilador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A7104-9B5D-4334-B52A-7A6FA4F7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4A63B-B9CD-4DCE-BBF4-408C479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04A8C-12AB-4D93-A71A-E3071702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1432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4C79E-1C73-4187-9F1C-181A87A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15F25-1403-4D5C-9840-C075F4F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Léxico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D79FE-FF39-4228-98AA-DF27AAC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lexer.py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77ABF-9717-4BA4-B1C6-35E14DAD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C2A90-1BF2-4A46-A8BF-FF43584D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Entrada: texto .cj</a:t>
            </a:r>
          </a:p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Saída: tokens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3F7D0-7AA2-46F8-BBAC-12CA5692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3762F-1C4E-4700-BC5E-BDEB2982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AB49A-D70A-4297-A8D6-8AA939A8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Sintaxe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25382-066E-4894-A128-CB548A9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parser.py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92A81-8370-4E56-99F7-A8156E63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36995-CC43-490B-85CA-FD1B5A5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862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Entrada: tokens</a:t>
            </a:r>
          </a:p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Saída: 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B43F0-0A52-4493-8FF0-182F77A7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1432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5DD9B-0CE3-46F2-9830-1BEEA49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C20AB-6684-4A21-A1F8-82D9D981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Execução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E6B64-58A9-43F9-9042-3FBFB71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interpreter.py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B8B5D-091F-4399-BF1F-361A66A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9A4C2-C090-425B-9B34-8843AE7C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Entrada: AST</a:t>
            </a:r>
          </a:p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Saída: programa</a:t>
            </a:r>
          </a:p>
        </p:txBody>
      </p:sp>
      <p:cxnSp>
        <p:nvCxnSpPr>
          <p:cNvPr id="47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05250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E46C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67625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E46C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B02BC-5736-4B26-AC21-0CC7014F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2372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39F33-8B35-4088-B654-652C4AC1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--tokens e --ast deixam cada etapa visível sem executar o programa</a:t>
            </a:r>
          </a:p>
        </p:txBody>
      </p:sp>
    </p:spTree>
    <p:extLst>
      <p:ext uri="{BB962C8B-B14F-4D97-AF65-F5344CB8AC3E}">
        <p14:creationId xmlns:p14="http://schemas.microsoft.com/office/powerpoint/2010/main" val="1429757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A76FB-E158-476A-9695-36A76997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Análise léxica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1DBA3-909E-4799-AC8E-A91E90B3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DBE0B-D440-4EF0-BAB4-7AF31A63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4e20f524e4edb"/>
          <a:stretch xmlns:a="http://schemas.openxmlformats.org/drawingml/2006/main"/>
        </p:blipFill>
        <p:spPr>
          <a:xfrm xmlns:a="http://schemas.openxmlformats.org/drawingml/2006/main">
            <a:off x="978474" y="1333500"/>
            <a:ext cx="3805677" cy="4524375"/>
          </a:xfrm>
          <a:prstGeom xmlns:a="http://schemas.openxmlformats.org/drawingml/2006/main" prst="roundRect">
            <a:avLst>
              <a:gd name="adj" fmla="val 301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440DD-6EAF-4FEF-B043-08ED4556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SAÍDA VERIFICÁVEL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3E48E-4158-4F4F-A2DC-58330111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05000"/>
            <a:ext cx="542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Classifica cheats, símbolos, números, strings e identificadores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Registra linha e coluna para facilitar o diagnóstico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Testa operadores de dois caracteres antes dos operadores simples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F29E5-6596-4020-BA78-927F771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Erro léxico localizado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f92514ced4599"/>
          <a:stretch xmlns:a="http://schemas.openxmlformats.org/drawingml/2006/main"/>
        </p:blipFill>
        <p:spPr>
          <a:xfrm xmlns:a="http://schemas.openxmlformats.org/drawingml/2006/main">
            <a:off x="6557362" y="4591050"/>
            <a:ext cx="3744526" cy="8763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699DA-0C56-48BE-82C1-3D3654C6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578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D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DBF"/>
                </a:solidFill>
                <a:latin typeface="Helvetica Neue"/>
                <a:ea typeface="Helvetica Neue"/>
                <a:cs typeface="Helvetica Neue"/>
              </a:rPr>
              <a:t>Linha 2, coluna 13: caractere inesperado '$'</a:t>
            </a:r>
          </a:p>
        </p:txBody>
      </p:sp>
    </p:spTree>
    <p:extLst>
      <p:ext uri="{BB962C8B-B14F-4D97-AF65-F5344CB8AC3E}">
        <p14:creationId xmlns:p14="http://schemas.microsoft.com/office/powerpoint/2010/main" val="1479144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A0D03-4B21-4827-BE0A-3011C31F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Análise sintática e 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D88FF-0F2D-4D06-92A5-703BEE94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729BF-30F4-4FB1-B01D-7259F6CF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758B6-3F4A-40F9-9ED5-4E204FD4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GRAMÁTICA EBNF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FBCF2-9DD7-4D05-80DC-8025DDE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33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ÁRVORE E DIAGNÓSTICO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f4d0c931f42b6"/>
          <a:stretch xmlns:a="http://schemas.openxmlformats.org/drawingml/2006/main"/>
        </p:blipFill>
        <p:spPr>
          <a:xfrm xmlns:a="http://schemas.openxmlformats.org/drawingml/2006/main">
            <a:off x="666750" y="2285705"/>
            <a:ext cx="5191125" cy="2238965"/>
          </a:xfrm>
          <a:prstGeom xmlns:a="http://schemas.openxmlformats.org/drawingml/2006/main" prst="roundRect">
            <a:avLst>
              <a:gd name="adj" fmla="val 3380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c0ca0e600402f"/>
          <a:stretch xmlns:a="http://schemas.openxmlformats.org/drawingml/2006/main"/>
        </p:blipFill>
        <p:spPr>
          <a:xfrm xmlns:a="http://schemas.openxmlformats.org/drawingml/2006/main">
            <a:off x="6238875" y="2258776"/>
            <a:ext cx="5286375" cy="2292823"/>
          </a:xfrm>
          <a:prstGeom xmlns:a="http://schemas.openxmlformats.org/drawingml/2006/main" prst="roundRect">
            <a:avLst>
              <a:gd name="adj" fmla="val 338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4556A-86D3-4325-BB49-58A130A7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2C2C6-AF6F-4629-9396-99B99FFE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Parser LL(1)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216D2-2B60-44DE-AD77-F4D41D45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Precedência explícita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E308A-6F4B-4E93-B849-BCE87546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67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AST indentada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DAFA2-C651-493B-94C6-3D59580C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673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rPr>
              <a:t>Erro informa o token esperado e o encontrado</a:t>
            </a:r>
          </a:p>
        </p:txBody>
      </p:sp>
    </p:spTree>
    <p:extLst>
      <p:ext uri="{BB962C8B-B14F-4D97-AF65-F5344CB8AC3E}">
        <p14:creationId xmlns:p14="http://schemas.microsoft.com/office/powerpoint/2010/main" val="1745947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9A42E-0D42-43B1-8FAA-93CC500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Interpretação e erros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B6A42-9B20-4B90-80DC-6365FCE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EBF5E-120C-4878-BF85-7BFA3F0A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7afe8aef04e61"/>
          <a:stretch xmlns:a="http://schemas.openxmlformats.org/drawingml/2006/main"/>
        </p:blipFill>
        <p:spPr>
          <a:xfrm xmlns:a="http://schemas.openxmlformats.org/drawingml/2006/main">
            <a:off x="666750" y="1638069"/>
            <a:ext cx="6572250" cy="2724612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D3E2C-A7A7-4681-AB6D-DB00B91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EXECUÇÃO DIRETA DA 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A82FC-8EAB-4B04-9468-8FEFDCC8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52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Interpretador tree-walking sem código intermediário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Escopos encadeados para declarações e atribuições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Curto-circuito em operadores booleanos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break capturado pelo laço mais interno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661DA-7BA8-4A9C-B870-EB070D63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Erro de execução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dfc48db61463a"/>
          <a:stretch xmlns:a="http://schemas.openxmlformats.org/drawingml/2006/main"/>
        </p:blipFill>
        <p:spPr>
          <a:xfrm xmlns:a="http://schemas.openxmlformats.org/drawingml/2006/main">
            <a:off x="666750" y="5404692"/>
            <a:ext cx="6572250" cy="639666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99AC6-EA38-45B1-9C94-63E2BFCE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rPr>
              <a:t>Exemplo: divisão por zero</a:t>
            </a:r>
          </a:p>
        </p:txBody>
      </p:sp>
    </p:spTree>
    <p:extLst>
      <p:ext uri="{BB962C8B-B14F-4D97-AF65-F5344CB8AC3E}">
        <p14:creationId xmlns:p14="http://schemas.microsoft.com/office/powerpoint/2010/main" val="289979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2BE3F-D9C3-42A7-A3FE-AF3BFF7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Prova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CF9AD-643A-4009-83F3-E8706C3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4A3FA-C7EE-48FD-B0B3-762463E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87391-2541-4EE1-8405-B8D59791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2C2C0-D092-4D81-BCC1-B21B54E2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testes passando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480A1-0771-4FEE-9C0D-3C10051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7481-5621-4169-B646-B16338E4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Python 3.10+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6030C-6C1F-439C-9D61-391A849B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Python puro, sem dependências externas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9C78D-5E64-4D10-987A-CA4D86EF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CLI com execução, --tokens e --ast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E9E9F-016E-40AF-9BF0-203D6D32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DEMONSTRAÇÃO COMPLETA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897c911a543db"/>
          <a:stretch xmlns:a="http://schemas.openxmlformats.org/drawingml/2006/main"/>
        </p:blipFill>
        <p:spPr>
          <a:xfrm xmlns:a="http://schemas.openxmlformats.org/drawingml/2006/main">
            <a:off x="4217918" y="1762125"/>
            <a:ext cx="7185163" cy="4286250"/>
          </a:xfrm>
          <a:prstGeom xmlns:a="http://schemas.openxmlformats.org/drawingml/2006/main" prst="roundRect">
            <a:avLst>
              <a:gd name="adj" fmla="val 311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6DED8-6E15-475D-9C0F-8584A59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436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Fonte .cj, execução e saída no mesmo fluxo</a:t>
            </a:r>
          </a:p>
        </p:txBody>
      </p:sp>
    </p:spTree>
    <p:extLst>
      <p:ext uri="{BB962C8B-B14F-4D97-AF65-F5344CB8AC3E}">
        <p14:creationId xmlns:p14="http://schemas.microsoft.com/office/powerpoint/2010/main" val="1985316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582B3-3068-4AF2-BC3A-E4DA9AC7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Modelo de negócio e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EBFE4-368A-4644-A4E6-D860324E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8D398-E92D-4EB2-9FBB-189DD525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AFD54-14A8-4C1B-9B2C-DF160211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NÚCLEO ABERTO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CD7FA-0125-4491-BE6F-20FFE615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Código, documentação, exemplos e versão básica do playground permanecem gratuitos.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0E19D-93C7-4295-BC10-25CD1A5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Função no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FDEDC-8E20-43F9-9D26-C9A9EDF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Reduzir a barreira acadêmica e criar o canal de aquisição.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D0200-A385-4259-BCA6-446EF38A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E2567-47E6-44F4-8BE8-4DCED09B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RECEITA POR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A5668-4CD1-4E82-825C-E1378E4B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304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Oficinas para turmas e eventos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Material didático editável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Customização para instituições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Treinamento e suporte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D4CAB-719A-40C0-8F8C-BA175737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Canais iniciais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14C01-6535-4CDD-8FBC-EE122AB3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Sala de aula, centros acadêmicos, eventos e Colab compartilhável.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78BB6-626A-429B-80ED-8A21AF81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763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E9E02-2894-4030-8B82-CD6686AC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PILOTO E VALIDAÇÃO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FC82A-2CB5-4F90-8B5A-10EEBFF0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R$ 990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23A1F-8FB4-4C19-AF43-86918B6E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caixa estimado para o piloto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15952-FEAF-4052-8BDC-F496C4E8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Trabalho estimado: 72 h × R$ 30 = R$ 2.160</a:t>
            </a:r>
          </a:p>
          <a:p xmlns:a="http://schemas.openxmlformats.org/drawingml/2006/main">
            <a:pPr algn="l">
              <a:defRPr sz="1275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372D"/>
                </a:solidFill>
                <a:latin typeface="Helvetica Neue"/>
                <a:ea typeface="Helvetica Neue"/>
                <a:cs typeface="Helvetica Neue"/>
              </a:rPr>
              <a:t>Custo econômico total: R$ 3.150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934C5-F640-445E-8BBE-AA27E2DB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Plano de teste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93CAB-11CE-465A-BE79-811872D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65C"/>
                </a:solidFill>
                <a:latin typeface="Helvetica Neue"/>
                <a:ea typeface="Helvetica Neue"/>
                <a:cs typeface="Helvetica Neue"/>
              </a:rPr>
              <a:t>20 estudantes e 3 docentes. Metas: conclusão da demo, compreensão de token e AST, intenção de uso em aula.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DD9B8-EE3E-4CAB-8EFF-C66F754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rPr>
              <a:t>Estimativas internas, não cotações. Metas futuras, não resultados.</a:t>
            </a:r>
          </a:p>
        </p:txBody>
      </p:sp>
    </p:spTree>
    <p:extLst>
      <p:ext uri="{BB962C8B-B14F-4D97-AF65-F5344CB8AC3E}">
        <p14:creationId xmlns:p14="http://schemas.microsoft.com/office/powerpoint/2010/main" val="21010179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971B2-2209-4CC6-82E2-4A91003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Validação 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EE3C0-4F1E-4496-8E71-E1338EAD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8FB4B-0064-43B9-A11E-02A4A530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311D8-5197-47FC-835A-E371E26D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PRODUTO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6A3AC-F5DD-4033-822D-0D75318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1CE02-52E5-4E4C-9071-2D1C632B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716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Aplicar a pesquisa com estudantes e docentes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1F57C-8B62-4560-8D09-78C1457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A4353-425F-465A-AEE1-1249740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Corrigir o protótipo com base nas evidências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919B5-0CB8-41F9-8767-16E05711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0B352-C689-4733-B0D1-1548182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719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Decidir sobre playground e oferta institucional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59E38-A36F-48BA-8B56-E4AE50CC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D2A8F-7DFC-45D9-8590-2BAE0396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COMPILADOR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C9D24-0334-4FBF-895B-53B9050C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Análise semântica separada do interpretador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Geração de código Python a partir da AST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Execução em MicroPython no ESP32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Playground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6D7BF-7DD1-4E03-8240-C034F24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47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98383-B461-432A-B2A3-B60FDBE2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O compilador já funciona. A próxima decisão depende do piloto com usuários e docentes.</a:t>
            </a:r>
          </a:p>
        </p:txBody>
      </p:sp>
    </p:spTree>
    <p:extLst>
      <p:ext uri="{BB962C8B-B14F-4D97-AF65-F5344CB8AC3E}">
        <p14:creationId xmlns:p14="http://schemas.microsoft.com/office/powerpoint/2010/main" val="800945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2026-09-21T20:10:01.3250000Z</dcterms:created>
  <dcterms:modified xsi:type="dcterms:W3CDTF">2026-09-21T20:10:01.3250000Z</dcterms:modified>
</coreProperties>
</file>