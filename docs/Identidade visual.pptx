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d911673a3415e" /><Relationship Type="http://schemas.openxmlformats.org/officeDocument/2006/relationships/extended-properties" Target="/docProps/app.xml" Id="R6a035c425b1340cd" /><Relationship Type="http://schemas.openxmlformats.org/officeDocument/2006/relationships/officeDocument" Target="/ppt/presentation.xml" Id="R6f81334fb219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611afe4d94d4e"/>
  </p:sldMasterIdLst>
  <p:notesMasterIdLst>
    <p:notesMasterId xmlns:r="http://schemas.openxmlformats.org/officeDocument/2006/relationships" r:id="R6a2130f5ef49472d"/>
  </p:notesMasterIdLst>
  <p:sldIdLst>
    <p:sldId xmlns:r="http://schemas.openxmlformats.org/officeDocument/2006/relationships" id="256" r:id="R787bb00b526147a9"/>
    <p:sldId xmlns:r="http://schemas.openxmlformats.org/officeDocument/2006/relationships" id="257" r:id="Rdf16ac5a74d14ad9"/>
    <p:sldId xmlns:r="http://schemas.openxmlformats.org/officeDocument/2006/relationships" id="258" r:id="Rfca8503bf7264aac"/>
    <p:sldId xmlns:r="http://schemas.openxmlformats.org/officeDocument/2006/relationships" id="259" r:id="R4bee1728cb714f80"/>
    <p:sldId xmlns:r="http://schemas.openxmlformats.org/officeDocument/2006/relationships" id="260" r:id="R84241c4273f9488d"/>
    <p:sldId xmlns:r="http://schemas.openxmlformats.org/officeDocument/2006/relationships" id="261" r:id="R6f97f3c6ab284fc9"/>
    <p:sldId xmlns:r="http://schemas.openxmlformats.org/officeDocument/2006/relationships" id="262" r:id="R4d9e62524e7d44ee"/>
    <p:sldId xmlns:r="http://schemas.openxmlformats.org/officeDocument/2006/relationships" id="263" r:id="R68153fb445814320"/>
    <p:sldId xmlns:r="http://schemas.openxmlformats.org/officeDocument/2006/relationships" id="264" r:id="Rbd4c13c03cb94dac"/>
    <p:sldId xmlns:r="http://schemas.openxmlformats.org/officeDocument/2006/relationships" id="265" r:id="R4a26db37510b4b7a"/>
    <p:sldId xmlns:r="http://schemas.openxmlformats.org/officeDocument/2006/relationships" id="266" r:id="R704580158ce2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32b40594334aa3" /><Relationship Type="http://schemas.openxmlformats.org/officeDocument/2006/relationships/slideMaster" Target="/ppt/slideMasters/slideMaster1.xml" Id="Ra90611afe4d94d4e" /><Relationship Type="http://schemas.openxmlformats.org/officeDocument/2006/relationships/notesMaster" Target="/ppt/notesMasters/notesMaster1.xml" Id="R6a2130f5ef49472d" /><Relationship Type="http://schemas.openxmlformats.org/officeDocument/2006/relationships/presProps" Target="/ppt/presProps.xml" Id="R0aaac603730144bd" /><Relationship Type="http://schemas.openxmlformats.org/officeDocument/2006/relationships/tableStyles" Target="/ppt/tableStyles.xml" Id="R732df4f297c54aad" /><Relationship Type="http://schemas.openxmlformats.org/officeDocument/2006/relationships/slide" Target="/ppt/slides/slide1.xml" Id="R787bb00b526147a9" /><Relationship Type="http://schemas.openxmlformats.org/officeDocument/2006/relationships/slide" Target="/ppt/slides/slide2.xml" Id="Rdf16ac5a74d14ad9" /><Relationship Type="http://schemas.openxmlformats.org/officeDocument/2006/relationships/slide" Target="/ppt/slides/slide3.xml" Id="Rfca8503bf7264aac" /><Relationship Type="http://schemas.openxmlformats.org/officeDocument/2006/relationships/slide" Target="/ppt/slides/slide4.xml" Id="R4bee1728cb714f80" /><Relationship Type="http://schemas.openxmlformats.org/officeDocument/2006/relationships/slide" Target="/ppt/slides/slide5.xml" Id="R84241c4273f9488d" /><Relationship Type="http://schemas.openxmlformats.org/officeDocument/2006/relationships/slide" Target="/ppt/slides/slide6.xml" Id="R6f97f3c6ab284fc9" /><Relationship Type="http://schemas.openxmlformats.org/officeDocument/2006/relationships/slide" Target="/ppt/slides/slide7.xml" Id="R4d9e62524e7d44ee" /><Relationship Type="http://schemas.openxmlformats.org/officeDocument/2006/relationships/slide" Target="/ppt/slides/slide8.xml" Id="R68153fb445814320" /><Relationship Type="http://schemas.openxmlformats.org/officeDocument/2006/relationships/slide" Target="/ppt/slides/slide9.xml" Id="Rbd4c13c03cb94dac" /><Relationship Type="http://schemas.openxmlformats.org/officeDocument/2006/relationships/slide" Target="/ppt/slides/slide10.xml" Id="R4a26db37510b4b7a" /><Relationship Type="http://schemas.openxmlformats.org/officeDocument/2006/relationships/slide" Target="/ppt/slides/slide11.xml" Id="R704580158ce2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9fb6795b1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4379402494475" /><Relationship Type="http://schemas.openxmlformats.org/officeDocument/2006/relationships/notesMaster" Target="/ppt/notesMasters/notesMaster1.xml" Id="Rd9c6404f5765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2f2d8381746f7" /><Relationship Type="http://schemas.openxmlformats.org/officeDocument/2006/relationships/notesMaster" Target="/ppt/notesMasters/notesMaster1.xml" Id="R675e19304d74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f674f0d9134466" /><Relationship Type="http://schemas.openxmlformats.org/officeDocument/2006/relationships/notesMaster" Target="/ppt/notesMasters/notesMaster1.xml" Id="Rd24d5d549aa2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889b5d9c234c57" /><Relationship Type="http://schemas.openxmlformats.org/officeDocument/2006/relationships/notesMaster" Target="/ppt/notesMasters/notesMaster1.xml" Id="R5e823d379ea549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280f0235cb484f" /><Relationship Type="http://schemas.openxmlformats.org/officeDocument/2006/relationships/notesMaster" Target="/ppt/notesMasters/notesMaster1.xml" Id="R5cdb74f4544842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00dd1d8474dc7" /><Relationship Type="http://schemas.openxmlformats.org/officeDocument/2006/relationships/notesMaster" Target="/ppt/notesMasters/notesMaster1.xml" Id="R8c171d172a5b4b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1d8cff77f742da" /><Relationship Type="http://schemas.openxmlformats.org/officeDocument/2006/relationships/notesMaster" Target="/ppt/notesMasters/notesMaster1.xml" Id="R111db292f9da44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edd91a2e4744ca" /><Relationship Type="http://schemas.openxmlformats.org/officeDocument/2006/relationships/notesMaster" Target="/ppt/notesMasters/notesMaster1.xml" Id="Racf85041a041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8dfa4a20a64c0b" /><Relationship Type="http://schemas.openxmlformats.org/officeDocument/2006/relationships/notesMaster" Target="/ppt/notesMasters/notesMaster1.xml" Id="R5312dc6662b944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9942cef82e434c" /><Relationship Type="http://schemas.openxmlformats.org/officeDocument/2006/relationships/notesMaster" Target="/ppt/notesMasters/notesMaster1.xml" Id="Rc75cb2d14e564d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c9b406c37a4643" /><Relationship Type="http://schemas.openxmlformats.org/officeDocument/2006/relationships/notesMaster" Target="/ppt/notesMasters/notesMaster1.xml" Id="R35f5130eb4ae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0:00–0:35. Apresentar a Grove como linguagem .cj inspirada nos cheats de GTA: San Andreas. Explicar que a marca visual é própria e que o foco da AP1 é combinar proposta de produto com pipeline de compiladores funcionando.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0:35–1:20. Diferenciar usuário de comprador. A Grove não se posiciona como produto infantil enquanto usar referências a GTA. A hipótese ainda precisa de validação primária.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1:20–2:10. Não apresentar pesquisa secundária como validação do produto. Fontes: Scratch https://scratch.mit.edu/help/about ; Microsoft MakeCode https://www.microsoft.com/en-us/makecode/about ; GitHub Octoverse 2025 https://github.blog/news-insights/octoverse/octoverse-a-new-developer-joins-github-every-second-as-ai-leads-typescript-to-1/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2:10–3:00. Mostrar que a Grove já funciona. Explicar as duas saídas didáticas: --tokens e --ast. O projeto não depende de biblioteca externa para executar.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3:00–3:45. O código aberto funciona como canal de aquisição. As faixas de preço do plano são hipóteses: oficina de 2 horas entre R$ 600 e R$ 1.200; material institucional entre R$ 300 e R$ 800.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3:45–4:25. Explicar o símbolo e a paleta. Não sugerir parceria com Rockstar. Para comercialização, revisar também nomes de comandos, áudio e qualquer material protegido.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4:25–5:00. Os papéis são propostos e devem ser confirmados pela equipe antes da entrega. Toda mudança funcional precisa de teste, exemplo e revisão de outro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5:00–5:40. A entrega acadêmica pode sair por R$ 0. O piloto usa R$ 990 de caixa. Somando o trabalho estimado, o custo econômico chega a R$ 3.150.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5:40–7:30. Mostrar primeiro a tabela de tokens e depois a AST. Explicar que os modos da CLI param o pipeline. Mencionar que os 24 testes cobrem lexer, parser, interpretador e 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7:30–9:30. Mostrar o fonte antes de executar o FizzBuzz. Se houver tempo, abrir --tokens ou --ast. Separar claramente as metas de pesquisa de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9:30–10:00. Fechar com a distinção entre entrega técnica pronta e hipóteses de negócio. Abrir para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a812bfed8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52ba00ec194914" /><Relationship Type="http://schemas.openxmlformats.org/officeDocument/2006/relationships/slideLayout" Target="/ppt/slideLayouts/slideLayout1.xml" Id="R11824c0cfac1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24c0cfac1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888afe9ea45c6" /><Relationship Type="http://schemas.openxmlformats.org/officeDocument/2006/relationships/image" Target="/ppt/media/image.png" Id="Rc8fb2bde7b7e4f13" /><Relationship Type="http://schemas.openxmlformats.org/officeDocument/2006/relationships/notesSlide" Target="/ppt/notesSlides/notesSlide1.xml" Id="R7e564ea08daa4b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6c7584e544fd4" /><Relationship Type="http://schemas.openxmlformats.org/officeDocument/2006/relationships/notesSlide" Target="/ppt/notesSlides/notesSlide2.xml" Id="R413023e19884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c7e600d2a44a5" /><Relationship Type="http://schemas.openxmlformats.org/officeDocument/2006/relationships/notesSlide" Target="/ppt/notesSlides/notesSlide3.xml" Id="Rde9555fe766e4c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ebc088d84b67" /><Relationship Type="http://schemas.openxmlformats.org/officeDocument/2006/relationships/notesSlide" Target="/ppt/notesSlides/notesSlide4.xml" Id="Rbde9296b7ce14a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adc2d7fcc4168" /><Relationship Type="http://schemas.openxmlformats.org/officeDocument/2006/relationships/notesSlide" Target="/ppt/notesSlides/notesSlide5.xml" Id="R4ba62a8b53ac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a32867c34ade" /><Relationship Type="http://schemas.openxmlformats.org/officeDocument/2006/relationships/image" Target="/ppt/media/image2.png" Id="R03d9c08b2b554184" /><Relationship Type="http://schemas.openxmlformats.org/officeDocument/2006/relationships/notesSlide" Target="/ppt/notesSlides/notesSlide6.xml" Id="R5308883fb316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4c524d96248d7" /><Relationship Type="http://schemas.openxmlformats.org/officeDocument/2006/relationships/notesSlide" Target="/ppt/notesSlides/notesSlide7.xml" Id="R3b8e69bbab6946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8a87c5fe4b38" /><Relationship Type="http://schemas.openxmlformats.org/officeDocument/2006/relationships/notesSlide" Target="/ppt/notesSlides/notesSlide8.xml" Id="R4e232972473043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c06b5258649c0" /><Relationship Type="http://schemas.openxmlformats.org/officeDocument/2006/relationships/notesSlide" Target="/ppt/notesSlides/notesSlide9.xml" Id="R5be548ddc28246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fd2b97b5742aa" /><Relationship Type="http://schemas.openxmlformats.org/officeDocument/2006/relationships/notesSlide" Target="/ppt/notesSlides/notesSlide10.xml" Id="R84b8652fb30441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22f75653746bb" /><Relationship Type="http://schemas.openxmlformats.org/officeDocument/2006/relationships/notesSlide" Target="/ppt/notesSlides/notesSlide11.xml" Id="Rb1cc9da231144e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b2bde7b7e4f13"/>
          <a:stretch xmlns:a="http://schemas.openxmlformats.org/drawingml/2006/main"/>
        </p:blipFill>
        <p:spPr>
          <a:xfrm xmlns:a="http://schemas.openxmlformats.org/drawingml/2006/main">
            <a:off x="1047750" y="762000"/>
            <a:ext cx="10096500" cy="3028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BC564-3C45-4C37-905F-B32439A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Plano de negócio + compilador funcionando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A1565-5F68-4FC1-B7C9-C27F00DD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Gabriel Lacerda · Gabriel Mendonça · Fernando Mendonça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87631-C27D-4253-87AC-057D357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CE7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CE7DE"/>
                </a:solidFill>
                <a:latin typeface="Helvetica Neue"/>
                <a:ea typeface="Helvetica Neue"/>
                <a:cs typeface="Helvetica Neue"/>
              </a:rPr>
              <a:t>AP1 · Projeto de Compiladores · 2026</a:t>
            </a:r>
          </a:p>
        </p:txBody>
      </p:sp>
    </p:spTree>
    <p:extLst>
      <p:ext uri="{BB962C8B-B14F-4D97-AF65-F5344CB8AC3E}">
        <p14:creationId xmlns:p14="http://schemas.microsoft.com/office/powerpoint/2010/main" val="1865020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9A078-FFE0-4A49-AF91-3653265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Problema, público e hipótese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AD842-D580-4059-A237-7E3A30D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3BD3-884D-41C0-A710-CD3310F4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49D6-47A7-4592-BE03-D69DD01D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3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O conteúdo fica abstrato quando tokens, AST e escopo aparecem apenas como teoria.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659BE-2E1E-475B-8582-8276BE0A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62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7DE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PÚBLICO PRINCIPAL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Estudantes de Computação em disciplinas de Compiladores, Linguagens Formais e programação textual.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D6FEB-E201-4887-84B7-43B4CA4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762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DCE7DE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HIPÓTESE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Contexto reconhecível + feedback imediato aumentam o interesse inicial sem retirar o rigor técnico.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7BACB-CDC6-45DD-9E7F-9B895D9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Compradores potenciais: faculdades, professores, eventos e projetos de extensão.</a:t>
            </a:r>
          </a:p>
        </p:txBody>
      </p:sp>
    </p:spTree>
    <p:extLst>
      <p:ext uri="{BB962C8B-B14F-4D97-AF65-F5344CB8AC3E}">
        <p14:creationId xmlns:p14="http://schemas.microsoft.com/office/powerpoint/2010/main" val="1667627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0DA66-D519-4B6F-B073-542DF4ED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Pesquisa: sinais e lacunas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15BFB-17D0-41BF-B647-0F73199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BA14D-BF0B-4802-9528-CDF56C54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305300"/>
                <a:gridCol w="4305300"/>
              </a:tblGrid>
              <a:tr h="785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Sinal observado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Decisão para a Grove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</a:tr>
              <a:tr h="785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Contexto criativo e experimentação apoiam a entrada na programação.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Usar tema para abrir a conversa, sem esconder os conceitos.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Microsoft MakeCode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Progressão e feedback imediato ajudam a aprendizagem.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Mostrar tokens, AST e saída no mesmo fluxo.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785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GitHub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segue entre as linguagens mais usadas e sustenta milhões de novos repositórios.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Manter a implementação legível em Python e o acesso via notebook.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60D7E-AF0F-459B-9BC0-C58404D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763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LACUNA DE EVIDÊNCIA</a:t>
            </a:r>
          </a:p>
          <a:p xmlns:a="http://schemas.openxmlformats.org/drawingml/2006/main">
            <a:pPr>
              <a:defRPr sz="157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Ainda não sabemos se o tema melhora compreensão ou se instituições pagariam por oficinas e material.</a:t>
            </a:r>
          </a:p>
        </p:txBody>
      </p:sp>
    </p:spTree>
    <p:extLst>
      <p:ext uri="{BB962C8B-B14F-4D97-AF65-F5344CB8AC3E}">
        <p14:creationId xmlns:p14="http://schemas.microsoft.com/office/powerpoint/2010/main" val="634903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E2320-E907-4A07-B828-AB134AC4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Produto e proposta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8F3C1-DD18-45B9-AAD3-4E07A6C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B63E0-05CA-4FC4-AC42-7305904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5C4F5-A7A1-46BC-A971-1075E6E8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952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FONTE .CJ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82DA8-F4A4-4643-BE62-5156C3C5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1952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LEXER</a:t>
            </a:r>
          </a:p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9FF9-AC1F-4487-920C-C23D807B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1952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PARSER</a:t>
            </a:r>
          </a:p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D9BC-AED6-4422-9B33-8C0F795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42887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INTERPRETADOR</a:t>
            </a:r>
          </a:p>
          <a:p xmlns:a="http://schemas.openxmlformats.org/drawingml/2006/main">
            <a:pPr>
              <a:def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SAÍDA</a:t>
            </a:r>
          </a:p>
        </p:txBody>
      </p:sp>
      <p:cxnSp>
        <p:nvCxnSpPr>
          <p:cNvPr id="20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762250" y="2738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E46C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429250" y="2738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E46C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96250" y="2738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E46C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4BD53-0469-45EC-B549-07020F5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Uma linguagem pequena e temática que deixa o pipeline inteiro visível, executável e modificável.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2265-A813-4D4A-9D0B-C364EE3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Terminal + Colab · Python puro · exemplos · documentação · 24 testes</a:t>
            </a:r>
          </a:p>
        </p:txBody>
      </p:sp>
    </p:spTree>
    <p:extLst>
      <p:ext uri="{BB962C8B-B14F-4D97-AF65-F5344CB8AC3E}">
        <p14:creationId xmlns:p14="http://schemas.microsoft.com/office/powerpoint/2010/main" val="518538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B3FF1-3430-4401-8E5A-46AE6B1B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Modelo de negócio e aquisição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0465D-28DD-42A0-9D1D-D4425D85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54DFD-C654-4CEB-852D-FC2F7A0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269CF-9298-44FB-840D-E8CA60C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Núcleo aberto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99810-F5A2-4E75-BA24-6BA1BECC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Código, documentação, exemplos e versão básica do playground permanecem gratuitos para reduzir a barreira acadêmica.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22B3C-D23E-4493-BDB7-558AA1E6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Receita por serviço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1AFB9-211B-49F6-9706-3A5BBE65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095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oficinas para turmas e eventos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material didático editável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customização para instituições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treinamento e suporte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3D06-5338-41CB-BEF5-CFDB49E2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2CA68-A58D-4C2A-BBB9-DA97C818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9715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2372A"/>
          </a:solidFill>
          <a:ln xmlns:a="http://schemas.openxmlformats.org/drawingml/2006/main" w="19050">
            <a:solidFill>
              <a:srgbClr val="12372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CANAIS INICIAIS</a:t>
            </a:r>
          </a:p>
          <a:p xmlns:a="http://schemas.openxmlformats.org/drawingml/2006/main">
            <a:pPr>
              <a:defRPr sz="16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Demonstrações em sala · centros acadêmicos · eventos · Colab compartilhável · oficinas-piloto</a:t>
            </a:r>
          </a:p>
        </p:txBody>
      </p:sp>
    </p:spTree>
    <p:extLst>
      <p:ext uri="{BB962C8B-B14F-4D97-AF65-F5344CB8AC3E}">
        <p14:creationId xmlns:p14="http://schemas.microsoft.com/office/powerpoint/2010/main" val="782657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DF4CB-B54D-4D80-B1F9-2C98B55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Identidade 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9688-1F1B-4466-902D-B553D7DD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B0D3E-4A70-4FA7-BDB2-F725397B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9c08b2b554184"/>
          <a:stretch xmlns:a="http://schemas.openxmlformats.org/drawingml/2006/main"/>
        </p:blipFill>
        <p:spPr>
          <a:xfrm xmlns:a="http://schemas.openxmlformats.org/drawingml/2006/main">
            <a:off x="857250" y="1524000"/>
            <a:ext cx="6858000" cy="2057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68C1B-8936-4D91-9318-D92E9FE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02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Bosque + chaves de código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4276F-B614-413E-AB11-0FD2FE1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CE7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DCE7DE"/>
                </a:solidFill>
                <a:latin typeface="Helvetica Neue"/>
                <a:ea typeface="Helvetica Neue"/>
                <a:cs typeface="Helvetica Neue"/>
              </a:rPr>
              <a:t>Marca própria, independente da identidade visual de GTA. A referência cultural fica no vocabulário da linguagem.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51797-C21D-4E52-A1AD-D9A468DF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72A"/>
          </a:solidFill>
          <a:ln xmlns:a="http://schemas.openxmlformats.org/drawingml/2006/main" w="19050">
            <a:solidFill>
              <a:srgbClr val="12372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PINHO</a:t>
            </a:r>
          </a:p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#12372A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E0621-B4F3-4948-8A5A-925D69A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GROVE</a:t>
            </a:r>
          </a:p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#2E7D32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DCB19-50A4-4799-8129-A2111C0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7E46C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MISSÃO</a:t>
            </a:r>
          </a:p>
          <a:p xmlns:a="http://schemas.openxmlformats.org/drawingml/2006/main">
            <a:pPr>
              <a:def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#B7E46C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C7440-E602-4DD9-8BB1-2BD905D1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9050">
            <a:solidFill>
              <a:srgbClr val="F4F1E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CONCRETO</a:t>
            </a:r>
          </a:p>
          <a:p xmlns:a="http://schemas.openxmlformats.org/drawingml/2006/main">
            <a:pPr>
              <a:def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#F4F1E8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A42C5-554B-4750-9C81-36C4799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5D39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ALERTA</a:t>
            </a:r>
          </a:p>
          <a:p xmlns:a="http://schemas.openxmlformats.org/drawingml/2006/main">
            <a:pPr>
              <a:def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#D95D39</a:t>
            </a:r>
          </a:p>
        </p:txBody>
      </p:sp>
    </p:spTree>
    <p:extLst>
      <p:ext uri="{BB962C8B-B14F-4D97-AF65-F5344CB8AC3E}">
        <p14:creationId xmlns:p14="http://schemas.microsoft.com/office/powerpoint/2010/main" val="2142599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5CC30-FE6A-47D8-B2CC-252DC21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Organograma da AP1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FD8DB-CE66-4DF0-8E03-C0283831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00383-21A2-450F-9A8A-BA0D2D4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0FEA2-A8CE-4224-8E1D-A95EB0D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04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2372A"/>
          </a:solidFill>
          <a:ln xmlns:a="http://schemas.openxmlformats.org/drawingml/2006/main" w="19050">
            <a:solidFill>
              <a:srgbClr val="12372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EQUIPE GROVE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57FBF-2E16-4A3A-ABF4-10EDFC4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30003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Gabriel Lacerda</a:t>
            </a:r>
          </a:p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Produto e pesquisa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BA52B-DDAF-4F62-AF5E-CEA5ED0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30003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Gabriel Mendonça</a:t>
            </a:r>
          </a:p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Linguagem e front-end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EE2CD-7900-43CF-8293-4067BFE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30003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Fernando Mendonça</a:t>
            </a:r>
          </a:p>
          <a:p xmlns:a="http://schemas.openxmlformats.org/drawingml/2006/main">
            <a:pPr>
              <a:def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Back-end e qualidade</a:t>
            </a:r>
          </a:p>
        </p:txBody>
      </p: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357438" y="2143125"/>
            <a:ext cx="3738563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E7D32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143125"/>
            <a:ext cx="4763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E7D32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143125"/>
            <a:ext cx="3738563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E7D32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CD5F0-DEE0-4CF9-BB1F-C3D46E8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Decisões de linguagem, revisão e demonstração continuam compartilhadas.</a:t>
            </a:r>
          </a:p>
        </p:txBody>
      </p:sp>
    </p:spTree>
    <p:extLst>
      <p:ext uri="{BB962C8B-B14F-4D97-AF65-F5344CB8AC3E}">
        <p14:creationId xmlns:p14="http://schemas.microsoft.com/office/powerpoint/2010/main" val="868405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F783B-8610-4403-BFB3-272124D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Orçamento do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A9BD-31E9-467E-95AE-C1DF1EC5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82C09-F2BE-498D-B49E-D4A3B9BA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14375" y="1381125"/>
          <a:ext xmlns:a="http://schemas.openxmlformats.org/drawingml/2006/main" cx="7429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3764"/>
                <a:gridCol w="3083943"/>
                <a:gridCol w="1401792"/>
              </a:tblGrid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Premissa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4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Caixa</a:t>
                      </a:r>
                    </a:p>
                  </a:txBody>
                  <a:tcPr marL="91440" marR="91440" marT="45720" marB="45720">
                    <a:solidFill>
                      <a:srgbClr val="12372A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Domínio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ano, opcional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Pesquisa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× R$ 20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R$ 400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Materiais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oficina e apoio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Mídia/licença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reserva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R$ 300</a:t>
                      </a:r>
                    </a:p>
                  </a:txBody>
                  <a:tcPr marL="91440" marR="91440" marT="45720" marB="45720">
                    <a:solidFill>
                      <a:srgbClr val="EAF0EA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Contingência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 dos pagos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DCE7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piloto de validação</a:t>
                      </a:r>
                    </a:p>
                  </a:txBody>
                  <a:tcPr marL="91440" marR="91440" marT="45720" marB="45720">
                    <a:solidFill>
                      <a:srgbClr val="DCE7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4201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R$ 990</a:t>
                      </a:r>
                    </a:p>
                  </a:txBody>
                  <a:tcPr marL="91440" marR="91440" marT="45720" marB="45720">
                    <a:solidFill>
                      <a:srgbClr val="DCE7D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EC732-DFCB-4F8D-8EAD-C37741C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2887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2372A"/>
          </a:solidFill>
          <a:ln xmlns:a="http://schemas.openxmlformats.org/drawingml/2006/main" w="19050">
            <a:solidFill>
              <a:srgbClr val="12372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AP1</a:t>
            </a:r>
          </a:p>
          <a:p xmlns:a="http://schemas.openxmlformats.org/drawingml/2006/main">
            <a:pPr>
              <a:def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R$ 0–100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44171-A274-4497-8BF6-244D62E9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288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DCE7DE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TRABALHO</a:t>
            </a:r>
          </a:p>
          <a:p xmlns:a="http://schemas.openxmlformats.org/drawingml/2006/main">
            <a:pPr>
              <a:def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72 h × R$ 30</a:t>
            </a:r>
          </a:p>
          <a:p xmlns:a="http://schemas.openxmlformats.org/drawingml/2006/main">
            <a:pPr>
              <a:def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= R$ 2.160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DC9F-241B-493A-8993-17A03776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4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Estimativas internas, não cotações.</a:t>
            </a:r>
          </a:p>
        </p:txBody>
      </p:sp>
    </p:spTree>
    <p:extLst>
      <p:ext uri="{BB962C8B-B14F-4D97-AF65-F5344CB8AC3E}">
        <p14:creationId xmlns:p14="http://schemas.microsoft.com/office/powerpoint/2010/main" val="1027558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036DA-2DDC-4259-85A3-E08F7F2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Prova técnica da AP1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29D04-FE98-42D5-8E5C-837969A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53A4A-EF17-43AC-9A6B-78A4DCD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11E5A-4EFE-4FE4-B477-28D17652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LÉXICO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298A5-CE74-4341-9D79-E35F1C40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tipo · lexema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linha · coluna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--tokens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F948D-D851-43B6-8823-F18CBF3E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76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SINTAXE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0E6A-1088-4224-AF8C-500F38B4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EBNF · LL(1)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precedência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AST indentada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--ast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D269C-0095-4699-91C3-59E48AE7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763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BACK-END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ADF53-5520-444D-8315-7B4374B0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tree-walking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escopos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curto-circuito</a:t>
            </a:r>
          </a:p>
          <a:p xmlns:a="http://schemas.openxmlformats.org/drawingml/2006/main">
            <a:pPr>
              <a:def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erros de execução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5560E-617B-47E6-9237-572DC8D6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650EE-774A-4C9F-B86D-5FD0CE3D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8EB70-ED48-46AD-9A64-85375E8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95875"/>
            <a:ext cx="466725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B7E46C"/>
          </a:solidFill>
          <a:ln xmlns:a="http://schemas.openxmlformats.org/drawingml/2006/main" w="19050">
            <a:solidFill>
              <a:srgbClr val="B7E46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24 TESTES PASSANDO</a:t>
            </a:r>
          </a:p>
        </p:txBody>
      </p:sp>
    </p:spTree>
    <p:extLst>
      <p:ext uri="{BB962C8B-B14F-4D97-AF65-F5344CB8AC3E}">
        <p14:creationId xmlns:p14="http://schemas.microsoft.com/office/powerpoint/2010/main" val="1771791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5B21A-7F44-4DC1-878A-E011FE9E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72A"/>
                </a:solidFill>
                <a:latin typeface="Helvetica Neue"/>
                <a:ea typeface="Helvetica Neue"/>
                <a:cs typeface="Helvetica Neue"/>
              </a:rPr>
              <a:t>Demonstração 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A6FA2-8D76-4B3A-AC05-0025A90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7C775-6069-4A9B-AFBE-8C11437E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30F07-3485-45ED-8875-5F56C3F7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42019"/>
          </a:solidFill>
          <a:ln xmlns:a="http://schemas.openxmlformats.org/drawingml/2006/main" w="19050">
            <a:solidFill>
              <a:srgbClr val="142019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$ python3 -m grove examples/fizzbuzz.cj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Fizz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Buzz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…</a:t>
            </a:r>
          </a:p>
          <a:p xmlns:a="http://schemas.openxmlformats.org/drawingml/2006/main">
            <a:pPr>
              <a:def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FizzBuzz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06EDC-AACC-41CD-BE90-9992E84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E7D32"/>
                </a:solidFill>
                <a:latin typeface="Helvetica Neue"/>
                <a:ea typeface="Helvetica Neue"/>
                <a:cs typeface="Helvetica Neue"/>
              </a:rPr>
              <a:t>TESTE COM USUÁRIOS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80366-1873-4FDC-8EEE-EDC70F0C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57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20 estudantes + 3 docentes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primeiro programa em até 5 min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70% concluem a demo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70% explicam token × AST</a:t>
            </a:r>
          </a:p>
          <a:p xmlns:a="http://schemas.openxmlformats.org/drawingml/2006/main">
            <a:pPr>
              <a:def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42019"/>
                </a:solidFill>
                <a:latin typeface="Helvetica Neue"/>
                <a:ea typeface="Helvetica Neue"/>
                <a:cs typeface="Helvetica Neue"/>
              </a:rPr>
              <a:t>• 2 de 3 docentes usariam em aula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11E2C-D9FA-4385-A299-79F73E54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5D39"/>
                </a:solidFill>
                <a:latin typeface="Helvetica Neue"/>
                <a:ea typeface="Helvetica Neue"/>
                <a:cs typeface="Helvetica Neue"/>
              </a:rPr>
              <a:t>Metas futuras, não resultados.</a:t>
            </a:r>
          </a:p>
        </p:txBody>
      </p:sp>
    </p:spTree>
    <p:extLst>
      <p:ext uri="{BB962C8B-B14F-4D97-AF65-F5344CB8AC3E}">
        <p14:creationId xmlns:p14="http://schemas.microsoft.com/office/powerpoint/2010/main" val="1458588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DDBA5-447A-477F-8CDD-A0DE5E9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D281F-419F-48A5-8B8D-3D5C9AA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7CD61-AAC7-41FD-8180-3BB7640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8416F-2EA8-47BA-8425-B318C81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8C577-F096-4833-B142-6FD75E3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907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Aplicar a pesquisa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2E5B-FB90-4ED0-BE03-7BF2453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9C9FA-B538-4DD9-80B9-3BF48C75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Corrigir o protótipo com evidência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70B9-25AC-467F-9236-2B404EF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7E46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0828F-F822-40E4-8C40-A6AA480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6720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1E8"/>
                </a:solidFill>
                <a:latin typeface="Helvetica Neue"/>
                <a:ea typeface="Helvetica Neue"/>
                <a:cs typeface="Helvetica Neue"/>
              </a:rPr>
              <a:t>Decidir sobre playground e oferta institucional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0D4B-15A2-4D34-91D1-A2B0F54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7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DCE7DE"/>
                </a:solidFill>
                <a:latin typeface="Helvetica Neue"/>
                <a:ea typeface="Helvetica Neue"/>
                <a:cs typeface="Helvetica Neue"/>
              </a:rPr>
              <a:t>A Grove já compila a ideia. Agora precisa validar o produto.</a:t>
            </a:r>
          </a:p>
        </p:txBody>
      </p:sp>
    </p:spTree>
    <p:extLst>
      <p:ext uri="{BB962C8B-B14F-4D97-AF65-F5344CB8AC3E}">
        <p14:creationId xmlns:p14="http://schemas.microsoft.com/office/powerpoint/2010/main" val="1850675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2026-09-21T16:08:19.7520000Z</dcterms:created>
  <dcterms:modified xsi:type="dcterms:W3CDTF">2026-09-21T16:08:19.7520000Z</dcterms:modified>
</coreProperties>
</file>