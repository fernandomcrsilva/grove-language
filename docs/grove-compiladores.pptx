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" name="Shape 2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0:00–0:30. Apresentar a Grove como linguagem de programação cujas palavras-chave são cheats de GTA San Andreas. A extensão .cj remete a Carl Johnson. Implementação em Python puro, sem dependências. Inserir oralmente os nomes do grupo, que não constam do repositório.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4" name="Shape 3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0:30–1:30. Abrir um print do jogo com o cheat HESOYAM sendo digitado, se disponível na apresentação ao vivo. A primeira versão usava botões do PS2 como pontuação. A equipe trocou por sintaxe semelhante à de C para que o foco ficasse nos cheats e no compilador, sem digitação de Unicode.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" name="Shape 3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1:30–2:30. Mostrar também examples/fatorial.cj. As nove palavras têm relação temática com o efeito dos cheats: KANGAROO sugere repetição, GOODBYECRUELWORLD encerra o laço. O restante da linguagem usa blocos, ponto e vírgula, parênteses e operadores convencionais. Fonte: README.md e docs/tokens.md.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6" name="Shape 5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2:30–3:00. Há três estágios principais, implementados em arquivos separados. Tokens e AST também podem ser vistos sem executar o programa. A AST fica em grove/ast.py; a entrada da CLI fica em grove/__main__.py.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0" name="Shape 6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9:30–10:00. Estas são possibilidades para a fase 2; ainda não estão implementadas. Abrir para perguntas. Se a demo falhar por ambiente, executar python -m unittest com Python 3.10+; os 24 testes do repositório passam.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8" name="Shape 6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3:00–4:30. No terminal: python -m grove examples/fatorial.cj --tokens. Destacar linha/coluna e classes de tokens: cheats, símbolos, número, string e identificador. Operadores de dois caracteres são testados antes para não separar != em ! e =. Depois: python -m grove examples/erro_lexico.cj. Erro esperado: linha 2, coluna 13, caractere inesperado $. O efeito sonoro WASTED depende do arquivo .wav em assets/. Use Python 3.10+ para a demo.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4" name="Shape 7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3:00–4:30. No terminal: python -m grove examples/fatorial.cj --tokens. Destacar linha/coluna e classes de tokens: cheats, símbolos, número, string e identificador. Operadores de dois caracteres são testados antes para não separar != em ! e =. Depois: python -m grove examples/erro_lexico.cj. Erro esperado: linha 2, coluna 13, caractere inesperado $. O efeito sonoro WASTED depende do arquivo .wav em assets/. Use Python 3.10+ para a demo.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8" name="Shape 7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9:30–10:00. Estas são possibilidades para a fase 2; ainda não estão implementadas. Abrir para perguntas. Se a demo falhar por ambiente, executar python -m unittest com Python 3.10+; os 24 testes do repositório passam.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3" name="Shape 8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4:30–6:30. Mostrar docs/gramatica.md. O parser é LL(1): escolhe a regra pelo próximo token. A ordem de precedência é ou, e, igualdade, comparação, termo, fator, unário e primário. O método binary constrói operadores associativos à esquerda. Blocos obrigatórios evitam ambiguidade de else. No terminal: python -m grove examples/fatorial.cj --ast e depois python -m grove examples/erro_sintatico.cj. O erro informa esperado e encontrado. O som de Big Smoke só toca se o .wav estiver em assets/.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8" name="Shape 8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4:30–6:30. Mostrar docs/gramatica.md. O parser é LL(1): escolhe a regra pelo próximo token. A ordem de precedência é ou, e, igualdade, comparação, termo, fator, unário e primário. O método binary constrói operadores associativos à esquerda. Blocos obrigatórios evitam ambiguidade de else. No terminal: python -m grove examples/fatorial.cj --ast e depois python -m grove examples/erro_sintatico.cj. O erro informa esperado e encontrado. O som de Big Smoke só toca se o .wav estiver em assets/.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9:30–10:00. Estas são possibilidades para a fase 2; ainda não estão implementadas. Abrir para perguntas. Se a demo falhar por ambiente, executar python -m unittest com Python 3.10+; os 24 testes do repositório passam.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7" name="Shape 9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6:30–8:00. Mostrar trechos exec_Block e eval_Binary de grove/interpreter.py. O interpretador percorre a AST diretamente, sem código intermediário. HESOYAM declara no escopo atual; atribuições procuram o nome nos pais. Condições exigem booleanos. break usa uma exceção interna capturada pelo KANGAROO mais interno. Demonstrar: python -m grove examples/erro_execucao.cj. Erro esperado: divisão por zero. O áudio de CJ é opcional.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2" name="Shape 10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6:30–8:00. Mostrar trechos exec_Block e eval_Binary de grove/interpreter.py. O interpretador percorre a AST diretamente, sem código intermediário. HESOYAM declara no escopo atual; atribuições procuram o nome nos pais. Condições exigem booleanos. break usa uma exceção interna capturada pelo KANGAROO mais interno. Demonstrar: python -m grove examples/erro_execucao.cj. Erro esperado: divisão por zero. O áudio de CJ é opcional.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6" name="Shape 10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9:30–10:00. Estas são possibilidades para a fase 2; ainda não estão implementadas. Abrir para perguntas. Se a demo falhar por ambiente, executar python -m unittest com Python 3.10+; os 24 testes do repositório passam.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1" name="Shape 11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8:00–9:30. Mostrar o código fonte antes de rodar cada exemplo. Comandos: python -m grove examples/fizzbuzz.cj; python -m grove examples/procurado.cj. FizzBuzz imprime 1 a 15, trocando múltiplos de 3, 5 e 15. Procurado imprime 1 a 6 e depois fim:. Em sucesso, o efeito MISSION PASSED depende do .wav opcional.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6" name="Shape 11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8:00–9:30. Mostrar o código fonte antes de rodar cada exemplo. Comandos: python -m grove examples/fizzbuzz.cj; python -m grove examples/procurado.cj. FizzBuzz imprime 1 a 15, trocando múltiplos de 3, 5 e 15. Procurado imprime 1 a 6 e depois fim:. Em sucesso, o efeito MISSION PASSED depende do .wav opcional.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4" name="Shape 12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9:30–10:00. Estas são possibilidades para a fase 2; ainda não estão implementadas. Abrir para perguntas. Se a demo falhar por ambiente, executar python -m unittest com Python 3.10+; os 24 testes do repositório passam.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/>
          <p:nvPr>
            <p:ph type="title"/>
          </p:nvPr>
        </p:nvSpPr>
        <p:spPr>
          <a:xfrm>
            <a:off x="1826683" y="769937"/>
            <a:ext cx="975360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Texto do Título</a:t>
            </a:r>
          </a:p>
        </p:txBody>
      </p:sp>
      <p:sp>
        <p:nvSpPr>
          <p:cNvPr id="3" name="Nível de Corpo Um…"/>
          <p:cNvSpPr txBox="1"/>
          <p:nvPr>
            <p:ph type="body" idx="1"/>
          </p:nvPr>
        </p:nvSpPr>
        <p:spPr>
          <a:xfrm>
            <a:off x="6805083" y="2438400"/>
            <a:ext cx="4775201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/>
          <p:nvPr>
            <p:ph type="sldNum" sz="quarter" idx="2"/>
          </p:nvPr>
        </p:nvSpPr>
        <p:spPr>
          <a:xfrm>
            <a:off x="8463946" y="6221731"/>
            <a:ext cx="273654" cy="26923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tif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72A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rove"/>
          <p:cNvSpPr txBox="1"/>
          <p:nvPr/>
        </p:nvSpPr>
        <p:spPr>
          <a:xfrm>
            <a:off x="712469" y="2000250"/>
            <a:ext cx="10195561" cy="10783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7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Grove</a:t>
            </a:r>
          </a:p>
        </p:txBody>
      </p:sp>
      <p:sp>
        <p:nvSpPr>
          <p:cNvPr id="21" name="Uma linguagem .cj inspirada nos cheats…"/>
          <p:cNvSpPr txBox="1"/>
          <p:nvPr/>
        </p:nvSpPr>
        <p:spPr>
          <a:xfrm>
            <a:off x="760094" y="3333751"/>
            <a:ext cx="10290811" cy="817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500">
                <a:solidFill>
                  <a:srgbClr val="C7E7A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Uma linguagem .cj inspirada nos cheats </a:t>
            </a:r>
          </a:p>
          <a:p>
            <a:pPr>
              <a:defRPr sz="2500">
                <a:solidFill>
                  <a:srgbClr val="C7E7A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de GTA San Andreas</a:t>
            </a:r>
          </a:p>
        </p:txBody>
      </p:sp>
      <p:sp>
        <p:nvSpPr>
          <p:cNvPr id="22" name="Projeto de Compiladores  ·  Python 3.10+…"/>
          <p:cNvSpPr txBox="1"/>
          <p:nvPr/>
        </p:nvSpPr>
        <p:spPr>
          <a:xfrm>
            <a:off x="760094" y="5619751"/>
            <a:ext cx="9433561" cy="541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Projeto de Compiladores  ·  Python 3.10+</a:t>
            </a:r>
          </a:p>
          <a:p>
            <a:pPr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Gabriel Lacerda, Gabriel Mendonça e Fernando Mendonça</a:t>
            </a:r>
          </a:p>
        </p:txBody>
      </p:sp>
      <p:pic>
        <p:nvPicPr>
          <p:cNvPr id="23" name="Imagem" descr="Imagem"/>
          <p:cNvPicPr>
            <a:picLocks noChangeAspect="1"/>
          </p:cNvPicPr>
          <p:nvPr/>
        </p:nvPicPr>
        <p:blipFill>
          <a:blip r:embed="rId3">
            <a:extLst/>
          </a:blip>
          <a:srcRect l="8730" t="8147" r="11528" b="10380"/>
          <a:stretch>
            <a:fillRect/>
          </a:stretch>
        </p:blipFill>
        <p:spPr>
          <a:xfrm>
            <a:off x="8118756" y="1929209"/>
            <a:ext cx="3261985" cy="2999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5" h="21536" fill="norm" stroke="1" extrusionOk="0">
                <a:moveTo>
                  <a:pt x="14937" y="0"/>
                </a:moveTo>
                <a:lnTo>
                  <a:pt x="14908" y="464"/>
                </a:lnTo>
                <a:lnTo>
                  <a:pt x="14882" y="929"/>
                </a:lnTo>
                <a:lnTo>
                  <a:pt x="14442" y="997"/>
                </a:lnTo>
                <a:cubicBezTo>
                  <a:pt x="14201" y="1035"/>
                  <a:pt x="13962" y="1105"/>
                  <a:pt x="13915" y="1157"/>
                </a:cubicBezTo>
                <a:cubicBezTo>
                  <a:pt x="13860" y="1216"/>
                  <a:pt x="13742" y="1203"/>
                  <a:pt x="13590" y="1117"/>
                </a:cubicBezTo>
                <a:cubicBezTo>
                  <a:pt x="13240" y="919"/>
                  <a:pt x="8813" y="918"/>
                  <a:pt x="8460" y="1117"/>
                </a:cubicBezTo>
                <a:cubicBezTo>
                  <a:pt x="8250" y="1235"/>
                  <a:pt x="8192" y="1235"/>
                  <a:pt x="8043" y="1117"/>
                </a:cubicBezTo>
                <a:cubicBezTo>
                  <a:pt x="7812" y="933"/>
                  <a:pt x="3271" y="916"/>
                  <a:pt x="2905" y="1097"/>
                </a:cubicBezTo>
                <a:cubicBezTo>
                  <a:pt x="2445" y="1325"/>
                  <a:pt x="2413" y="1534"/>
                  <a:pt x="2413" y="4300"/>
                </a:cubicBezTo>
                <a:lnTo>
                  <a:pt x="2413" y="6847"/>
                </a:lnTo>
                <a:lnTo>
                  <a:pt x="3380" y="6876"/>
                </a:lnTo>
                <a:lnTo>
                  <a:pt x="4349" y="6901"/>
                </a:lnTo>
                <a:lnTo>
                  <a:pt x="4375" y="7537"/>
                </a:lnTo>
                <a:cubicBezTo>
                  <a:pt x="4394" y="7965"/>
                  <a:pt x="4445" y="8199"/>
                  <a:pt x="4532" y="8252"/>
                </a:cubicBezTo>
                <a:cubicBezTo>
                  <a:pt x="4632" y="8313"/>
                  <a:pt x="4663" y="8555"/>
                  <a:pt x="4663" y="9286"/>
                </a:cubicBezTo>
                <a:cubicBezTo>
                  <a:pt x="4663" y="9857"/>
                  <a:pt x="4703" y="10284"/>
                  <a:pt x="4763" y="10349"/>
                </a:cubicBezTo>
                <a:cubicBezTo>
                  <a:pt x="4904" y="10503"/>
                  <a:pt x="4796" y="10645"/>
                  <a:pt x="4483" y="10720"/>
                </a:cubicBezTo>
                <a:cubicBezTo>
                  <a:pt x="4335" y="10755"/>
                  <a:pt x="4134" y="10898"/>
                  <a:pt x="4035" y="11036"/>
                </a:cubicBezTo>
                <a:cubicBezTo>
                  <a:pt x="3869" y="11264"/>
                  <a:pt x="3854" y="11431"/>
                  <a:pt x="3854" y="12931"/>
                </a:cubicBezTo>
                <a:cubicBezTo>
                  <a:pt x="3854" y="13835"/>
                  <a:pt x="3893" y="14684"/>
                  <a:pt x="3940" y="14820"/>
                </a:cubicBezTo>
                <a:cubicBezTo>
                  <a:pt x="4047" y="15126"/>
                  <a:pt x="4463" y="15370"/>
                  <a:pt x="4878" y="15370"/>
                </a:cubicBezTo>
                <a:cubicBezTo>
                  <a:pt x="5260" y="15370"/>
                  <a:pt x="5363" y="15517"/>
                  <a:pt x="5156" y="15766"/>
                </a:cubicBezTo>
                <a:cubicBezTo>
                  <a:pt x="5004" y="15948"/>
                  <a:pt x="4996" y="15946"/>
                  <a:pt x="4640" y="15749"/>
                </a:cubicBezTo>
                <a:lnTo>
                  <a:pt x="4276" y="15547"/>
                </a:lnTo>
                <a:lnTo>
                  <a:pt x="4061" y="15846"/>
                </a:lnTo>
                <a:cubicBezTo>
                  <a:pt x="3943" y="16010"/>
                  <a:pt x="3794" y="16123"/>
                  <a:pt x="3728" y="16096"/>
                </a:cubicBezTo>
                <a:cubicBezTo>
                  <a:pt x="3645" y="16061"/>
                  <a:pt x="3593" y="16171"/>
                  <a:pt x="3558" y="16456"/>
                </a:cubicBezTo>
                <a:cubicBezTo>
                  <a:pt x="3493" y="16980"/>
                  <a:pt x="3361" y="17131"/>
                  <a:pt x="3162" y="16914"/>
                </a:cubicBezTo>
                <a:cubicBezTo>
                  <a:pt x="3024" y="16764"/>
                  <a:pt x="3030" y="16711"/>
                  <a:pt x="3220" y="16145"/>
                </a:cubicBezTo>
                <a:lnTo>
                  <a:pt x="3424" y="15535"/>
                </a:lnTo>
                <a:lnTo>
                  <a:pt x="3209" y="15356"/>
                </a:lnTo>
                <a:cubicBezTo>
                  <a:pt x="3092" y="15257"/>
                  <a:pt x="2896" y="15146"/>
                  <a:pt x="2772" y="15111"/>
                </a:cubicBezTo>
                <a:cubicBezTo>
                  <a:pt x="2648" y="15076"/>
                  <a:pt x="2319" y="14879"/>
                  <a:pt x="2041" y="14675"/>
                </a:cubicBezTo>
                <a:cubicBezTo>
                  <a:pt x="1540" y="14307"/>
                  <a:pt x="1535" y="14306"/>
                  <a:pt x="1352" y="14492"/>
                </a:cubicBezTo>
                <a:cubicBezTo>
                  <a:pt x="973" y="14876"/>
                  <a:pt x="709" y="15341"/>
                  <a:pt x="602" y="15814"/>
                </a:cubicBezTo>
                <a:cubicBezTo>
                  <a:pt x="542" y="16083"/>
                  <a:pt x="408" y="16497"/>
                  <a:pt x="306" y="16740"/>
                </a:cubicBezTo>
                <a:cubicBezTo>
                  <a:pt x="73" y="17294"/>
                  <a:pt x="63" y="18132"/>
                  <a:pt x="285" y="18587"/>
                </a:cubicBezTo>
                <a:cubicBezTo>
                  <a:pt x="442" y="18909"/>
                  <a:pt x="444" y="18919"/>
                  <a:pt x="243" y="19151"/>
                </a:cubicBezTo>
                <a:cubicBezTo>
                  <a:pt x="92" y="19326"/>
                  <a:pt x="29" y="19534"/>
                  <a:pt x="5" y="19949"/>
                </a:cubicBezTo>
                <a:cubicBezTo>
                  <a:pt x="-62" y="21085"/>
                  <a:pt x="490" y="21583"/>
                  <a:pt x="1354" y="21168"/>
                </a:cubicBezTo>
                <a:lnTo>
                  <a:pt x="1771" y="20969"/>
                </a:lnTo>
                <a:lnTo>
                  <a:pt x="2114" y="21251"/>
                </a:lnTo>
                <a:lnTo>
                  <a:pt x="2457" y="21536"/>
                </a:lnTo>
                <a:lnTo>
                  <a:pt x="2955" y="20975"/>
                </a:lnTo>
                <a:cubicBezTo>
                  <a:pt x="3229" y="20666"/>
                  <a:pt x="3516" y="20304"/>
                  <a:pt x="3594" y="20171"/>
                </a:cubicBezTo>
                <a:cubicBezTo>
                  <a:pt x="3732" y="19936"/>
                  <a:pt x="3742" y="19934"/>
                  <a:pt x="3972" y="20097"/>
                </a:cubicBezTo>
                <a:cubicBezTo>
                  <a:pt x="4278" y="20315"/>
                  <a:pt x="4418" y="20310"/>
                  <a:pt x="4619" y="20069"/>
                </a:cubicBezTo>
                <a:cubicBezTo>
                  <a:pt x="4745" y="19917"/>
                  <a:pt x="4851" y="19886"/>
                  <a:pt x="5077" y="19932"/>
                </a:cubicBezTo>
                <a:cubicBezTo>
                  <a:pt x="5330" y="19984"/>
                  <a:pt x="5407" y="19947"/>
                  <a:pt x="5641" y="19664"/>
                </a:cubicBezTo>
                <a:cubicBezTo>
                  <a:pt x="5887" y="19367"/>
                  <a:pt x="5930" y="19349"/>
                  <a:pt x="6107" y="19467"/>
                </a:cubicBezTo>
                <a:cubicBezTo>
                  <a:pt x="6281" y="19583"/>
                  <a:pt x="6331" y="19569"/>
                  <a:pt x="6542" y="19351"/>
                </a:cubicBezTo>
                <a:cubicBezTo>
                  <a:pt x="6755" y="19130"/>
                  <a:pt x="6797" y="19119"/>
                  <a:pt x="6953" y="19245"/>
                </a:cubicBezTo>
                <a:cubicBezTo>
                  <a:pt x="7177" y="19424"/>
                  <a:pt x="7403" y="19422"/>
                  <a:pt x="7540" y="19242"/>
                </a:cubicBezTo>
                <a:cubicBezTo>
                  <a:pt x="7619" y="19139"/>
                  <a:pt x="7706" y="19126"/>
                  <a:pt x="7863" y="19191"/>
                </a:cubicBezTo>
                <a:cubicBezTo>
                  <a:pt x="8034" y="19262"/>
                  <a:pt x="8132" y="19232"/>
                  <a:pt x="8342" y="19040"/>
                </a:cubicBezTo>
                <a:cubicBezTo>
                  <a:pt x="8662" y="18747"/>
                  <a:pt x="8657" y="18745"/>
                  <a:pt x="8987" y="19011"/>
                </a:cubicBezTo>
                <a:lnTo>
                  <a:pt x="9254" y="19225"/>
                </a:lnTo>
                <a:lnTo>
                  <a:pt x="9469" y="19003"/>
                </a:lnTo>
                <a:cubicBezTo>
                  <a:pt x="9607" y="18862"/>
                  <a:pt x="9708" y="18822"/>
                  <a:pt x="9746" y="18889"/>
                </a:cubicBezTo>
                <a:cubicBezTo>
                  <a:pt x="9826" y="19029"/>
                  <a:pt x="10294" y="19023"/>
                  <a:pt x="10504" y="18880"/>
                </a:cubicBezTo>
                <a:cubicBezTo>
                  <a:pt x="10672" y="18766"/>
                  <a:pt x="10790" y="18794"/>
                  <a:pt x="11072" y="19014"/>
                </a:cubicBezTo>
                <a:cubicBezTo>
                  <a:pt x="11199" y="19113"/>
                  <a:pt x="11265" y="19096"/>
                  <a:pt x="11442" y="18915"/>
                </a:cubicBezTo>
                <a:lnTo>
                  <a:pt x="11654" y="18695"/>
                </a:lnTo>
                <a:lnTo>
                  <a:pt x="11819" y="18895"/>
                </a:lnTo>
                <a:cubicBezTo>
                  <a:pt x="12027" y="19145"/>
                  <a:pt x="12243" y="19144"/>
                  <a:pt x="12450" y="18895"/>
                </a:cubicBezTo>
                <a:cubicBezTo>
                  <a:pt x="12683" y="18615"/>
                  <a:pt x="12867" y="18652"/>
                  <a:pt x="13215" y="19043"/>
                </a:cubicBezTo>
                <a:cubicBezTo>
                  <a:pt x="13383" y="19231"/>
                  <a:pt x="13555" y="19385"/>
                  <a:pt x="13598" y="19385"/>
                </a:cubicBezTo>
                <a:cubicBezTo>
                  <a:pt x="13640" y="19385"/>
                  <a:pt x="13824" y="19274"/>
                  <a:pt x="14007" y="19140"/>
                </a:cubicBezTo>
                <a:cubicBezTo>
                  <a:pt x="14189" y="19005"/>
                  <a:pt x="14389" y="18895"/>
                  <a:pt x="14452" y="18895"/>
                </a:cubicBezTo>
                <a:cubicBezTo>
                  <a:pt x="14515" y="18895"/>
                  <a:pt x="14727" y="19055"/>
                  <a:pt x="14924" y="19248"/>
                </a:cubicBezTo>
                <a:lnTo>
                  <a:pt x="15280" y="19598"/>
                </a:lnTo>
                <a:lnTo>
                  <a:pt x="15552" y="19388"/>
                </a:lnTo>
                <a:cubicBezTo>
                  <a:pt x="15858" y="19151"/>
                  <a:pt x="15870" y="19154"/>
                  <a:pt x="16511" y="19744"/>
                </a:cubicBezTo>
                <a:cubicBezTo>
                  <a:pt x="16966" y="20162"/>
                  <a:pt x="16971" y="20165"/>
                  <a:pt x="17132" y="19972"/>
                </a:cubicBezTo>
                <a:cubicBezTo>
                  <a:pt x="17349" y="19711"/>
                  <a:pt x="17417" y="19724"/>
                  <a:pt x="17578" y="20063"/>
                </a:cubicBezTo>
                <a:cubicBezTo>
                  <a:pt x="17751" y="20427"/>
                  <a:pt x="18034" y="20533"/>
                  <a:pt x="18254" y="20317"/>
                </a:cubicBezTo>
                <a:cubicBezTo>
                  <a:pt x="18362" y="20210"/>
                  <a:pt x="18440" y="20191"/>
                  <a:pt x="18479" y="20260"/>
                </a:cubicBezTo>
                <a:cubicBezTo>
                  <a:pt x="18573" y="20425"/>
                  <a:pt x="19465" y="20852"/>
                  <a:pt x="19716" y="20852"/>
                </a:cubicBezTo>
                <a:cubicBezTo>
                  <a:pt x="19874" y="20852"/>
                  <a:pt x="20009" y="20955"/>
                  <a:pt x="20158" y="21194"/>
                </a:cubicBezTo>
                <a:cubicBezTo>
                  <a:pt x="20408" y="21593"/>
                  <a:pt x="20428" y="21600"/>
                  <a:pt x="20638" y="21348"/>
                </a:cubicBezTo>
                <a:cubicBezTo>
                  <a:pt x="20725" y="21243"/>
                  <a:pt x="20908" y="21130"/>
                  <a:pt x="21047" y="21097"/>
                </a:cubicBezTo>
                <a:cubicBezTo>
                  <a:pt x="21202" y="21060"/>
                  <a:pt x="21318" y="20956"/>
                  <a:pt x="21351" y="20824"/>
                </a:cubicBezTo>
                <a:cubicBezTo>
                  <a:pt x="21441" y="20457"/>
                  <a:pt x="21401" y="19451"/>
                  <a:pt x="21282" y="19091"/>
                </a:cubicBezTo>
                <a:cubicBezTo>
                  <a:pt x="21183" y="18791"/>
                  <a:pt x="21192" y="18699"/>
                  <a:pt x="21348" y="18356"/>
                </a:cubicBezTo>
                <a:cubicBezTo>
                  <a:pt x="21467" y="18095"/>
                  <a:pt x="21530" y="17787"/>
                  <a:pt x="21534" y="17510"/>
                </a:cubicBezTo>
                <a:cubicBezTo>
                  <a:pt x="21538" y="17232"/>
                  <a:pt x="21485" y="16985"/>
                  <a:pt x="21372" y="16849"/>
                </a:cubicBezTo>
                <a:cubicBezTo>
                  <a:pt x="21150" y="16583"/>
                  <a:pt x="20923" y="16587"/>
                  <a:pt x="20685" y="16863"/>
                </a:cubicBezTo>
                <a:cubicBezTo>
                  <a:pt x="20501" y="17077"/>
                  <a:pt x="20490" y="17080"/>
                  <a:pt x="20368" y="16900"/>
                </a:cubicBezTo>
                <a:cubicBezTo>
                  <a:pt x="20257" y="16736"/>
                  <a:pt x="20211" y="16730"/>
                  <a:pt x="19967" y="16840"/>
                </a:cubicBezTo>
                <a:cubicBezTo>
                  <a:pt x="19731" y="16947"/>
                  <a:pt x="19668" y="16940"/>
                  <a:pt x="19530" y="16803"/>
                </a:cubicBezTo>
                <a:cubicBezTo>
                  <a:pt x="19440" y="16715"/>
                  <a:pt x="19312" y="16644"/>
                  <a:pt x="19244" y="16644"/>
                </a:cubicBezTo>
                <a:cubicBezTo>
                  <a:pt x="19176" y="16644"/>
                  <a:pt x="18989" y="16506"/>
                  <a:pt x="18827" y="16336"/>
                </a:cubicBezTo>
                <a:cubicBezTo>
                  <a:pt x="18612" y="16109"/>
                  <a:pt x="18504" y="16054"/>
                  <a:pt x="18419" y="16128"/>
                </a:cubicBezTo>
                <a:cubicBezTo>
                  <a:pt x="18355" y="16183"/>
                  <a:pt x="18164" y="16248"/>
                  <a:pt x="17997" y="16273"/>
                </a:cubicBezTo>
                <a:cubicBezTo>
                  <a:pt x="17721" y="16315"/>
                  <a:pt x="17668" y="16281"/>
                  <a:pt x="17421" y="15900"/>
                </a:cubicBezTo>
                <a:lnTo>
                  <a:pt x="17148" y="15478"/>
                </a:lnTo>
                <a:lnTo>
                  <a:pt x="16765" y="15723"/>
                </a:lnTo>
                <a:lnTo>
                  <a:pt x="16380" y="15968"/>
                </a:lnTo>
                <a:lnTo>
                  <a:pt x="16131" y="15629"/>
                </a:lnTo>
                <a:cubicBezTo>
                  <a:pt x="15895" y="15307"/>
                  <a:pt x="15875" y="15299"/>
                  <a:pt x="15676" y="15441"/>
                </a:cubicBezTo>
                <a:cubicBezTo>
                  <a:pt x="15505" y="15563"/>
                  <a:pt x="15439" y="15568"/>
                  <a:pt x="15327" y="15467"/>
                </a:cubicBezTo>
                <a:cubicBezTo>
                  <a:pt x="15205" y="15357"/>
                  <a:pt x="15210" y="15318"/>
                  <a:pt x="15374" y="15128"/>
                </a:cubicBezTo>
                <a:cubicBezTo>
                  <a:pt x="15476" y="15010"/>
                  <a:pt x="15597" y="14774"/>
                  <a:pt x="15641" y="14606"/>
                </a:cubicBezTo>
                <a:cubicBezTo>
                  <a:pt x="15747" y="14204"/>
                  <a:pt x="15700" y="11350"/>
                  <a:pt x="15584" y="11124"/>
                </a:cubicBezTo>
                <a:cubicBezTo>
                  <a:pt x="15534" y="11028"/>
                  <a:pt x="15337" y="10850"/>
                  <a:pt x="15144" y="10731"/>
                </a:cubicBezTo>
                <a:cubicBezTo>
                  <a:pt x="14793" y="10516"/>
                  <a:pt x="14790" y="10516"/>
                  <a:pt x="14790" y="9902"/>
                </a:cubicBezTo>
                <a:cubicBezTo>
                  <a:pt x="14790" y="9548"/>
                  <a:pt x="14836" y="9245"/>
                  <a:pt x="14897" y="9189"/>
                </a:cubicBezTo>
                <a:cubicBezTo>
                  <a:pt x="15061" y="9041"/>
                  <a:pt x="15686" y="9127"/>
                  <a:pt x="15707" y="9301"/>
                </a:cubicBezTo>
                <a:cubicBezTo>
                  <a:pt x="15717" y="9381"/>
                  <a:pt x="15751" y="9662"/>
                  <a:pt x="15783" y="9925"/>
                </a:cubicBezTo>
                <a:cubicBezTo>
                  <a:pt x="15821" y="10236"/>
                  <a:pt x="15913" y="10483"/>
                  <a:pt x="16053" y="10634"/>
                </a:cubicBezTo>
                <a:cubicBezTo>
                  <a:pt x="16255" y="10854"/>
                  <a:pt x="16328" y="10868"/>
                  <a:pt x="17392" y="10868"/>
                </a:cubicBezTo>
                <a:cubicBezTo>
                  <a:pt x="18450" y="10868"/>
                  <a:pt x="18532" y="10854"/>
                  <a:pt x="18770" y="10631"/>
                </a:cubicBezTo>
                <a:lnTo>
                  <a:pt x="19021" y="10395"/>
                </a:lnTo>
                <a:lnTo>
                  <a:pt x="19050" y="8346"/>
                </a:lnTo>
                <a:lnTo>
                  <a:pt x="19076" y="6294"/>
                </a:lnTo>
                <a:lnTo>
                  <a:pt x="18013" y="6212"/>
                </a:lnTo>
                <a:cubicBezTo>
                  <a:pt x="16377" y="6084"/>
                  <a:pt x="13568" y="6106"/>
                  <a:pt x="13328" y="6249"/>
                </a:cubicBezTo>
                <a:cubicBezTo>
                  <a:pt x="13162" y="6348"/>
                  <a:pt x="13089" y="6342"/>
                  <a:pt x="12906" y="6212"/>
                </a:cubicBezTo>
                <a:cubicBezTo>
                  <a:pt x="12722" y="6080"/>
                  <a:pt x="12504" y="6060"/>
                  <a:pt x="11622" y="6103"/>
                </a:cubicBezTo>
                <a:cubicBezTo>
                  <a:pt x="11038" y="6131"/>
                  <a:pt x="10520" y="6161"/>
                  <a:pt x="10470" y="6166"/>
                </a:cubicBezTo>
                <a:cubicBezTo>
                  <a:pt x="10421" y="6172"/>
                  <a:pt x="10187" y="6145"/>
                  <a:pt x="9951" y="6109"/>
                </a:cubicBezTo>
                <a:cubicBezTo>
                  <a:pt x="9510" y="6042"/>
                  <a:pt x="9351" y="5923"/>
                  <a:pt x="9495" y="5767"/>
                </a:cubicBezTo>
                <a:cubicBezTo>
                  <a:pt x="9540" y="5718"/>
                  <a:pt x="11204" y="5670"/>
                  <a:pt x="13218" y="5656"/>
                </a:cubicBezTo>
                <a:lnTo>
                  <a:pt x="16862" y="5630"/>
                </a:lnTo>
                <a:lnTo>
                  <a:pt x="16886" y="2815"/>
                </a:lnTo>
                <a:lnTo>
                  <a:pt x="16912" y="0"/>
                </a:lnTo>
                <a:lnTo>
                  <a:pt x="15924" y="0"/>
                </a:lnTo>
                <a:lnTo>
                  <a:pt x="14937" y="0"/>
                </a:ln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or que cheats?"/>
          <p:cNvSpPr txBox="1"/>
          <p:nvPr/>
        </p:nvSpPr>
        <p:spPr>
          <a:xfrm>
            <a:off x="693419" y="485776"/>
            <a:ext cx="10719436" cy="535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100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Por que cheats?</a:t>
            </a:r>
          </a:p>
        </p:txBody>
      </p:sp>
      <p:sp>
        <p:nvSpPr>
          <p:cNvPr id="28" name="HESOYAM"/>
          <p:cNvSpPr txBox="1"/>
          <p:nvPr/>
        </p:nvSpPr>
        <p:spPr>
          <a:xfrm>
            <a:off x="660138" y="1085971"/>
            <a:ext cx="5909312" cy="98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6000">
                <a:solidFill>
                  <a:srgbClr val="165D43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HESOYAM</a:t>
            </a:r>
          </a:p>
        </p:txBody>
      </p:sp>
      <p:sp>
        <p:nvSpPr>
          <p:cNvPr id="29" name="Um vocabulário conhecido e legal…"/>
          <p:cNvSpPr txBox="1"/>
          <p:nvPr/>
        </p:nvSpPr>
        <p:spPr>
          <a:xfrm>
            <a:off x="691850" y="2013598"/>
            <a:ext cx="5242562" cy="7676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300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Um vocabulário conhecido e legal</a:t>
            </a:r>
          </a:p>
          <a:p>
            <a:pPr>
              <a:defRPr sz="2300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torna a linguagem fácil de entender.</a:t>
            </a:r>
          </a:p>
        </p:txBody>
      </p:sp>
      <p:sp>
        <p:nvSpPr>
          <p:cNvPr id="30" name="A implementação percorre todas as etapas: tokens, AST e execução."/>
          <p:cNvSpPr txBox="1"/>
          <p:nvPr/>
        </p:nvSpPr>
        <p:spPr>
          <a:xfrm>
            <a:off x="6320240" y="5120692"/>
            <a:ext cx="4671062" cy="1110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300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implementação percorre todas as etapas: tokens, AST e execução.</a:t>
            </a:r>
          </a:p>
        </p:txBody>
      </p:sp>
      <p:pic>
        <p:nvPicPr>
          <p:cNvPr id="31" name="Captura de Tela 2026-09-21 às 00.05.06.png" descr="Captura de Tela 2026-09-21 às 00.05.06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8850" y="3182354"/>
            <a:ext cx="5328563" cy="340436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filme-colado.png" descr="filme-colado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90588" y="722535"/>
            <a:ext cx="5661826" cy="407879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Nove palavras reservadas"/>
          <p:cNvSpPr txBox="1"/>
          <p:nvPr/>
        </p:nvSpPr>
        <p:spPr>
          <a:xfrm>
            <a:off x="515920" y="352651"/>
            <a:ext cx="10719436" cy="9929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100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Nove palavras reservadas </a:t>
            </a:r>
          </a:p>
        </p:txBody>
      </p:sp>
      <p:pic>
        <p:nvPicPr>
          <p:cNvPr id="37" name="Captura de Tela 2026-09-21 às 12.47.18.png" descr="Captura de Tela 2026-09-21 às 12.47.1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11190" y="1042785"/>
            <a:ext cx="11083893" cy="47724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peline da Grove"/>
          <p:cNvSpPr txBox="1"/>
          <p:nvPr/>
        </p:nvSpPr>
        <p:spPr>
          <a:xfrm>
            <a:off x="693419" y="485776"/>
            <a:ext cx="10719436" cy="535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100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Pipeline da Grove</a:t>
            </a:r>
          </a:p>
        </p:txBody>
      </p:sp>
      <p:sp>
        <p:nvSpPr>
          <p:cNvPr id="42" name="01"/>
          <p:cNvSpPr txBox="1"/>
          <p:nvPr/>
        </p:nvSpPr>
        <p:spPr>
          <a:xfrm>
            <a:off x="712469" y="1752600"/>
            <a:ext cx="3194687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600">
                <a:solidFill>
                  <a:srgbClr val="165D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43" name="Léxico"/>
          <p:cNvSpPr txBox="1"/>
          <p:nvPr/>
        </p:nvSpPr>
        <p:spPr>
          <a:xfrm>
            <a:off x="712469" y="2276475"/>
            <a:ext cx="3194687" cy="510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000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Léxico</a:t>
            </a:r>
          </a:p>
        </p:txBody>
      </p:sp>
      <p:sp>
        <p:nvSpPr>
          <p:cNvPr id="44" name="lexer.py"/>
          <p:cNvSpPr txBox="1"/>
          <p:nvPr/>
        </p:nvSpPr>
        <p:spPr>
          <a:xfrm>
            <a:off x="712469" y="3114675"/>
            <a:ext cx="3194687" cy="370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900">
                <a:solidFill>
                  <a:srgbClr val="165D43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lexer.py</a:t>
            </a:r>
          </a:p>
        </p:txBody>
      </p:sp>
      <p:sp>
        <p:nvSpPr>
          <p:cNvPr id="45" name="texto .cj  →  tokens"/>
          <p:cNvSpPr txBox="1"/>
          <p:nvPr/>
        </p:nvSpPr>
        <p:spPr>
          <a:xfrm>
            <a:off x="712469" y="3857626"/>
            <a:ext cx="3194687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5667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texto .cj  →  tokens</a:t>
            </a:r>
          </a:p>
        </p:txBody>
      </p:sp>
      <p:sp>
        <p:nvSpPr>
          <p:cNvPr id="46" name="02"/>
          <p:cNvSpPr txBox="1"/>
          <p:nvPr/>
        </p:nvSpPr>
        <p:spPr>
          <a:xfrm>
            <a:off x="4484370" y="1752600"/>
            <a:ext cx="3194687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600">
                <a:solidFill>
                  <a:srgbClr val="165D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47" name="Sintaxe"/>
          <p:cNvSpPr txBox="1"/>
          <p:nvPr/>
        </p:nvSpPr>
        <p:spPr>
          <a:xfrm>
            <a:off x="4484370" y="2276475"/>
            <a:ext cx="3194687" cy="510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000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Sintaxe</a:t>
            </a:r>
          </a:p>
        </p:txBody>
      </p:sp>
      <p:sp>
        <p:nvSpPr>
          <p:cNvPr id="48" name="parser.py"/>
          <p:cNvSpPr txBox="1"/>
          <p:nvPr/>
        </p:nvSpPr>
        <p:spPr>
          <a:xfrm>
            <a:off x="4484370" y="3114675"/>
            <a:ext cx="3194687" cy="370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900">
                <a:solidFill>
                  <a:srgbClr val="165D43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parser.py</a:t>
            </a:r>
          </a:p>
        </p:txBody>
      </p:sp>
      <p:sp>
        <p:nvSpPr>
          <p:cNvPr id="49" name="tokens  →  AST"/>
          <p:cNvSpPr txBox="1"/>
          <p:nvPr/>
        </p:nvSpPr>
        <p:spPr>
          <a:xfrm>
            <a:off x="4484370" y="3857626"/>
            <a:ext cx="3194687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5667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tokens  →  AST</a:t>
            </a:r>
          </a:p>
        </p:txBody>
      </p:sp>
      <p:sp>
        <p:nvSpPr>
          <p:cNvPr id="50" name="03"/>
          <p:cNvSpPr txBox="1"/>
          <p:nvPr/>
        </p:nvSpPr>
        <p:spPr>
          <a:xfrm>
            <a:off x="8265793" y="1752600"/>
            <a:ext cx="3194687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600">
                <a:solidFill>
                  <a:srgbClr val="165D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51" name="Execução"/>
          <p:cNvSpPr txBox="1"/>
          <p:nvPr/>
        </p:nvSpPr>
        <p:spPr>
          <a:xfrm>
            <a:off x="8265793" y="2276475"/>
            <a:ext cx="3194687" cy="510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000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Execução</a:t>
            </a:r>
          </a:p>
        </p:txBody>
      </p:sp>
      <p:sp>
        <p:nvSpPr>
          <p:cNvPr id="52" name="interpreter.py"/>
          <p:cNvSpPr txBox="1"/>
          <p:nvPr/>
        </p:nvSpPr>
        <p:spPr>
          <a:xfrm>
            <a:off x="8265793" y="3114675"/>
            <a:ext cx="3194687" cy="370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900">
                <a:solidFill>
                  <a:srgbClr val="165D43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interpreter.py</a:t>
            </a:r>
          </a:p>
        </p:txBody>
      </p:sp>
      <p:sp>
        <p:nvSpPr>
          <p:cNvPr id="53" name="AST  →  saída"/>
          <p:cNvSpPr txBox="1"/>
          <p:nvPr/>
        </p:nvSpPr>
        <p:spPr>
          <a:xfrm>
            <a:off x="8265793" y="3857626"/>
            <a:ext cx="3194687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5667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AST  →  saída</a:t>
            </a:r>
          </a:p>
        </p:txBody>
      </p:sp>
      <p:sp>
        <p:nvSpPr>
          <p:cNvPr id="54" name="A CLI permite parar em tokens ou AST: --tokens e --ast"/>
          <p:cNvSpPr txBox="1"/>
          <p:nvPr/>
        </p:nvSpPr>
        <p:spPr>
          <a:xfrm>
            <a:off x="712469" y="5429251"/>
            <a:ext cx="10576561" cy="375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000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CLI permite parar em tokens ou AST: --tokens e --ast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72A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1- Analise…"/>
          <p:cNvSpPr txBox="1"/>
          <p:nvPr/>
        </p:nvSpPr>
        <p:spPr>
          <a:xfrm>
            <a:off x="736282" y="2068892"/>
            <a:ext cx="10719436" cy="2720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b="1" sz="9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1- Analise </a:t>
            </a:r>
          </a:p>
          <a:p>
            <a:pPr algn="ctr">
              <a:defRPr b="1" sz="9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Léxica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\"/>
          <p:cNvSpPr txBox="1"/>
          <p:nvPr/>
        </p:nvSpPr>
        <p:spPr>
          <a:xfrm>
            <a:off x="11056618" y="6238876"/>
            <a:ext cx="480062" cy="239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5667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\</a:t>
            </a:r>
          </a:p>
        </p:txBody>
      </p:sp>
      <p:pic>
        <p:nvPicPr>
          <p:cNvPr id="63" name="Captura de Tela 2026-09-21 às 00.44.02.png" descr="Captura de Tela 2026-09-21 às 00.44.02.png"/>
          <p:cNvPicPr>
            <a:picLocks noChangeAspect="1"/>
          </p:cNvPicPr>
          <p:nvPr/>
        </p:nvPicPr>
        <p:blipFill>
          <a:blip r:embed="rId3">
            <a:extLst/>
          </a:blip>
          <a:srcRect l="0" t="0" r="18765" b="45772"/>
          <a:stretch>
            <a:fillRect/>
          </a:stretch>
        </p:blipFill>
        <p:spPr>
          <a:xfrm>
            <a:off x="336711" y="1055289"/>
            <a:ext cx="5982112" cy="4747325"/>
          </a:xfrm>
          <a:prstGeom prst="rect">
            <a:avLst/>
          </a:prstGeom>
          <a:ln w="12700">
            <a:miter lim="400000"/>
          </a:ln>
        </p:spPr>
      </p:pic>
      <p:sp>
        <p:nvSpPr>
          <p:cNvPr id="64" name="Tokens:"/>
          <p:cNvSpPr txBox="1"/>
          <p:nvPr/>
        </p:nvSpPr>
        <p:spPr>
          <a:xfrm>
            <a:off x="365259" y="427873"/>
            <a:ext cx="5925003" cy="535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100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Tokens:</a:t>
            </a:r>
          </a:p>
        </p:txBody>
      </p:sp>
      <p:pic>
        <p:nvPicPr>
          <p:cNvPr id="65" name="Captura de Tela 2026-09-21 às 00.44.02.png" descr="Captura de Tela 2026-09-21 às 00.44.02.png"/>
          <p:cNvPicPr>
            <a:picLocks noChangeAspect="1"/>
          </p:cNvPicPr>
          <p:nvPr/>
        </p:nvPicPr>
        <p:blipFill>
          <a:blip r:embed="rId3">
            <a:extLst/>
          </a:blip>
          <a:srcRect l="0" t="53985" r="36454" b="0"/>
          <a:stretch>
            <a:fillRect/>
          </a:stretch>
        </p:blipFill>
        <p:spPr>
          <a:xfrm>
            <a:off x="6432147" y="1055289"/>
            <a:ext cx="5514555" cy="4747270"/>
          </a:xfrm>
          <a:prstGeom prst="rect">
            <a:avLst/>
          </a:prstGeom>
          <a:ln w="12700">
            <a:miter lim="400000"/>
          </a:ln>
        </p:spPr>
      </p:pic>
      <p:sp>
        <p:nvSpPr>
          <p:cNvPr id="66" name="Dividido e aumentado para melhor visualização no projetor…"/>
          <p:cNvSpPr txBox="1"/>
          <p:nvPr/>
        </p:nvSpPr>
        <p:spPr>
          <a:xfrm>
            <a:off x="376366" y="6226383"/>
            <a:ext cx="11675623" cy="264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200">
                <a:solidFill>
                  <a:srgbClr val="92939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Dividido e aumentado para melhor visualização no projetor…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\"/>
          <p:cNvSpPr txBox="1"/>
          <p:nvPr/>
        </p:nvSpPr>
        <p:spPr>
          <a:xfrm>
            <a:off x="11056618" y="6238876"/>
            <a:ext cx="480062" cy="239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56675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\</a:t>
            </a:r>
          </a:p>
        </p:txBody>
      </p:sp>
      <p:pic>
        <p:nvPicPr>
          <p:cNvPr id="71" name="Captura de Tela 2026-09-21 às 00.46.16.png" descr="Captura de Tela 2026-09-21 às 00.46.16.png"/>
          <p:cNvPicPr>
            <a:picLocks noChangeAspect="1"/>
          </p:cNvPicPr>
          <p:nvPr/>
        </p:nvPicPr>
        <p:blipFill>
          <a:blip r:embed="rId3">
            <a:extLst/>
          </a:blip>
          <a:srcRect l="0" t="0" r="40802" b="0"/>
          <a:stretch>
            <a:fillRect/>
          </a:stretch>
        </p:blipFill>
        <p:spPr>
          <a:xfrm>
            <a:off x="484543" y="1273231"/>
            <a:ext cx="10764442" cy="4255414"/>
          </a:xfrm>
          <a:prstGeom prst="rect">
            <a:avLst/>
          </a:prstGeom>
          <a:ln w="12700">
            <a:miter lim="400000"/>
          </a:ln>
        </p:spPr>
      </p:pic>
      <p:sp>
        <p:nvSpPr>
          <p:cNvPr id="72" name="Erro Léxico:"/>
          <p:cNvSpPr txBox="1"/>
          <p:nvPr/>
        </p:nvSpPr>
        <p:spPr>
          <a:xfrm>
            <a:off x="507769" y="597550"/>
            <a:ext cx="5925000" cy="535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100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Erro Léxico: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72A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2- Analise Sintática"/>
          <p:cNvSpPr txBox="1"/>
          <p:nvPr/>
        </p:nvSpPr>
        <p:spPr>
          <a:xfrm>
            <a:off x="736282" y="2068892"/>
            <a:ext cx="10719436" cy="2720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9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2- Analise Sintática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Captura de Tela 2026-09-21 às 00.51.40.png" descr="Captura de Tela 2026-09-21 às 00.51.40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1242" y="972815"/>
            <a:ext cx="11389516" cy="4912370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Gramática EBNF:"/>
          <p:cNvSpPr txBox="1"/>
          <p:nvPr/>
        </p:nvSpPr>
        <p:spPr>
          <a:xfrm>
            <a:off x="420983" y="332054"/>
            <a:ext cx="5925001" cy="535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100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Gramática EBNF: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Captura de Tela 2026-09-21 às 00.52.32.png" descr="Captura de Tela 2026-09-21 às 00.52.3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19954" y="967167"/>
            <a:ext cx="11352093" cy="4923667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AST e erro sintático:"/>
          <p:cNvSpPr txBox="1"/>
          <p:nvPr/>
        </p:nvSpPr>
        <p:spPr>
          <a:xfrm>
            <a:off x="396258" y="339414"/>
            <a:ext cx="5925003" cy="535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100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AST e erro sintático: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72A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3- Interpretador"/>
          <p:cNvSpPr txBox="1"/>
          <p:nvPr/>
        </p:nvSpPr>
        <p:spPr>
          <a:xfrm>
            <a:off x="736282" y="2735642"/>
            <a:ext cx="10719436" cy="13867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9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3- Interpretador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Captura de Tela 2026-09-21 às 00.53.18.png" descr="Captura de Tela 2026-09-21 às 00.53.1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2398" y="1031332"/>
            <a:ext cx="11567205" cy="4795336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Código do interpretador:"/>
          <p:cNvSpPr txBox="1"/>
          <p:nvPr/>
        </p:nvSpPr>
        <p:spPr>
          <a:xfrm>
            <a:off x="358611" y="367036"/>
            <a:ext cx="5925003" cy="535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100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Código do interpretador: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Captura de Tela 2026-09-21 às 00.53.55.png" descr="Captura de Tela 2026-09-21 às 00.53.55.png"/>
          <p:cNvPicPr>
            <a:picLocks noChangeAspect="1"/>
          </p:cNvPicPr>
          <p:nvPr/>
        </p:nvPicPr>
        <p:blipFill>
          <a:blip r:embed="rId3">
            <a:extLst/>
          </a:blip>
          <a:srcRect l="4254" t="0" r="18565" b="0"/>
          <a:stretch>
            <a:fillRect/>
          </a:stretch>
        </p:blipFill>
        <p:spPr>
          <a:xfrm>
            <a:off x="233597" y="1272887"/>
            <a:ext cx="11724927" cy="1478572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Erro de execução:"/>
          <p:cNvSpPr txBox="1"/>
          <p:nvPr/>
        </p:nvSpPr>
        <p:spPr>
          <a:xfrm>
            <a:off x="264651" y="617249"/>
            <a:ext cx="5925003" cy="535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100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Erro de execução: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72A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Demonstração…"/>
          <p:cNvSpPr txBox="1"/>
          <p:nvPr/>
        </p:nvSpPr>
        <p:spPr>
          <a:xfrm>
            <a:off x="736282" y="2068892"/>
            <a:ext cx="10719436" cy="2720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b="1" sz="9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Demonstração </a:t>
            </a:r>
          </a:p>
          <a:p>
            <a:pPr algn="ctr">
              <a:defRPr b="1" sz="9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Completa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Captura de Tela 2026-09-21 às 00.54.46.png" descr="Captura de Tela 2026-09-21 às 00.54.46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90338" y="885656"/>
            <a:ext cx="9576560" cy="5712819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FizzBuzz"/>
          <p:cNvSpPr txBox="1"/>
          <p:nvPr/>
        </p:nvSpPr>
        <p:spPr>
          <a:xfrm>
            <a:off x="375590" y="251155"/>
            <a:ext cx="5925001" cy="535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100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FizzBuzz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Captura de Tela 2026-09-21 às 00.55.23.png" descr="Captura de Tela 2026-09-21 às 00.55.2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62753" y="1081309"/>
            <a:ext cx="11466494" cy="4695382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Procurado"/>
          <p:cNvSpPr txBox="1"/>
          <p:nvPr/>
        </p:nvSpPr>
        <p:spPr>
          <a:xfrm>
            <a:off x="375590" y="428656"/>
            <a:ext cx="5925001" cy="535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100">
                <a:solidFill>
                  <a:srgbClr val="172A2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Procurado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72A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róximos passos"/>
          <p:cNvSpPr txBox="1"/>
          <p:nvPr/>
        </p:nvSpPr>
        <p:spPr>
          <a:xfrm>
            <a:off x="693419" y="485776"/>
            <a:ext cx="10719436" cy="535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Próximos passos</a:t>
            </a:r>
          </a:p>
        </p:txBody>
      </p:sp>
      <p:sp>
        <p:nvSpPr>
          <p:cNvPr id="119" name="Análise semântica separada do interpretador"/>
          <p:cNvSpPr txBox="1"/>
          <p:nvPr/>
        </p:nvSpPr>
        <p:spPr>
          <a:xfrm>
            <a:off x="731519" y="1552575"/>
            <a:ext cx="10290811" cy="437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solidFill>
                  <a:srgbClr val="FFFDF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Análise semântica separada do interpretador</a:t>
            </a:r>
          </a:p>
        </p:txBody>
      </p:sp>
      <p:sp>
        <p:nvSpPr>
          <p:cNvPr id="120" name="Geração de código Python a partir da AST"/>
          <p:cNvSpPr txBox="1"/>
          <p:nvPr/>
        </p:nvSpPr>
        <p:spPr>
          <a:xfrm>
            <a:off x="731519" y="2447925"/>
            <a:ext cx="10290811" cy="437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Geração de código Python a partir da AST</a:t>
            </a:r>
          </a:p>
        </p:txBody>
      </p:sp>
      <p:sp>
        <p:nvSpPr>
          <p:cNvPr id="121" name="Execução em MicroPython no ESP32"/>
          <p:cNvSpPr txBox="1"/>
          <p:nvPr/>
        </p:nvSpPr>
        <p:spPr>
          <a:xfrm>
            <a:off x="731519" y="3343276"/>
            <a:ext cx="10290811" cy="437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Execução em MicroPython no ESP32</a:t>
            </a:r>
          </a:p>
        </p:txBody>
      </p:sp>
      <p:sp>
        <p:nvSpPr>
          <p:cNvPr id="122" name="Playground web"/>
          <p:cNvSpPr txBox="1"/>
          <p:nvPr/>
        </p:nvSpPr>
        <p:spPr>
          <a:xfrm>
            <a:off x="731519" y="4238626"/>
            <a:ext cx="10290811" cy="437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Playground web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